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e053ab-437c-467b-474f-ee2742f75e0d}">
          <p14:sldIdLst>
            <p14:sldId id="256"/>
            <p14:sldId id="257"/>
            <p14:sldId id="258"/>
            <p14:sldId id="259"/>
          </p14:sldIdLst>
        </p14:section>
        <p14:section name="Data and model" id="{3034cad4-ccd6-5ac7-7405-f3ae8b8cf8a2}">
          <p14:sldIdLst>
            <p14:sldId id="260"/>
            <p14:sldId id="261"/>
            <p14:sldId id="262"/>
            <p14:sldId id="263"/>
            <p14:sldId id="264"/>
            <p14:sldId id="265"/>
          </p14:sldIdLst>
        </p14:section>
        <p14:section name="Product" id="{05962a81-a8b8-84db-30f4-f619c9239deb}">
          <p14:sldIdLst>
            <p14:sldId id="266"/>
            <p14:sldId id="267"/>
            <p14:sldId id="268"/>
            <p14:sldId id="269"/>
          </p14:sldIdLst>
        </p14:section>
        <p14:section name="Close" id="{fb70fddc-ae97-2068-567a-8f68414a81b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EAD7"/>
                </a:solidFill>
                <a:latin typeface="Arial"/>
              </a:defRPr>
            </a:pPr>
            <a:r>
              <a:rPr sz="1400" b="0" i="0" u="none" strike="noStrike">
                <a:solidFill>
                  <a:srgbClr val="F3EAD7"/>
                </a:solidFill>
                <a:latin typeface="Arial"/>
              </a:rPr>
              <a:t>Mean absolute error in dollars (lower is better)</a:t>
            </a:r>
          </a:p>
        </c:rich>
      </c:tx>
      <c:layout/>
      <c:overlay val="0"/>
    </c:title>
    <c:autoTitleDeleted val="0"/>
    <c:plotArea>
      <c:layout/>
      <c:barChart>
        <c:barDir val="col"/>
        <c:grouping val="clustered"/>
        <c:varyColors val="0"/>
        <c:ser>
          <c:idx val="0"/>
          <c:order val="0"/>
          <c:tx>
            <c:strRef>
              <c:f>Sheet1!$B$1</c:f>
              <c:strCache>
                <c:ptCount val="1"/>
                <c:pt idx="0">
                  <c:v>MAE ($)</c:v>
                </c:pt>
              </c:strCache>
            </c:strRef>
          </c:tx>
          <c:spPr>
            <a:solidFill>
              <a:srgbClr val="6B5A38"/>
            </a:solidFill>
            <a:effectLst/>
          </c:spPr>
          <c:invertIfNegative val="0"/>
          <c:dLbls>
            <c:numFmt formatCode="$#,##0" sourceLinked="0"/>
            <c:txPr>
              <a:bodyPr/>
              <a:lstStyle/>
              <a:p>
                <a:pPr>
                  <a:defRPr b="0" i="0" strike="noStrike" sz="1400" u="none">
                    <a:solidFill>
                      <a:srgbClr val="F3EAD7"/>
                    </a:solidFill>
                    <a:latin typeface="Arial"/>
                  </a:defRPr>
                </a:pPr>
              </a:p>
            </c:txPr>
            <c:showLegendKey val="0"/>
            <c:showVal val="1"/>
            <c:showCatName val="0"/>
            <c:showSerName val="0"/>
            <c:showPercent val="0"/>
            <c:showBubbleSize val="0"/>
            <c:showLeaderLines val="0"/>
          </c:dLbls>
          <c:dPt>
            <c:idx val="0"/>
            <c:invertIfNegative val="0"/>
            <c:bubble3D val="0"/>
            <c:spPr>
              <a:solidFill>
                <a:srgbClr val="6B5A38"/>
              </a:solidFill>
              <a:effectLst/>
            </c:spPr>
          </c:dPt>
          <c:dPt>
            <c:idx val="1"/>
            <c:invertIfNegative val="0"/>
            <c:bubble3D val="0"/>
            <c:spPr>
              <a:solidFill>
                <a:srgbClr val="6B5A38"/>
              </a:solidFill>
              <a:effectLst/>
            </c:spPr>
          </c:dPt>
          <c:dPt>
            <c:idx val="2"/>
            <c:invertIfNegative val="0"/>
            <c:bubble3D val="0"/>
            <c:spPr>
              <a:solidFill>
                <a:srgbClr val="D4AF6A"/>
              </a:solidFill>
              <a:effectLst/>
            </c:spPr>
          </c:dPt>
          <c:cat>
            <c:multiLvlStrRef>
              <c:f>Sheet1!$A$2:$A$4</c:f>
              <c:multiLvlStrCache>
                <c:ptCount val="3"/>
                <c:lvl>
                  <c:pt idx="0">
                    <c:v>Linear Regression</c:v>
                  </c:pt>
                  <c:pt idx="1">
                    <c:v>Decision Tree</c:v>
                  </c:pt>
                  <c:pt idx="2">
                    <c:v>Random Forest</c:v>
                  </c:pt>
                </c:lvl>
              </c:multiLvlStrCache>
            </c:multiLvlStrRef>
          </c:cat>
          <c:val>
            <c:numRef>
              <c:f>Sheet1!$B$2:$B$4</c:f>
              <c:numCache>
                <c:formatCode>General</c:formatCode>
                <c:ptCount val="3"/>
                <c:pt idx="0">
                  <c:v>18829</c:v>
                </c:pt>
                <c:pt idx="1">
                  <c:v>20913</c:v>
                </c:pt>
                <c:pt idx="2">
                  <c:v>17782</c:v>
                </c:pt>
              </c:numCache>
            </c:numRef>
          </c:val>
        </c:ser>
        <c:dLbls>
          <c:numFmt formatCode="$#,##0" sourceLinked="0"/>
          <c:txPr>
            <a:bodyPr/>
            <a:lstStyle/>
            <a:p>
              <a:pPr>
                <a:defRPr b="0" i="0" strike="noStrike" sz="1400" u="none">
                  <a:solidFill>
                    <a:srgbClr val="F3EAD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F3EAD7"/>
                </a:solidFill>
                <a:latin typeface="+mn-lt"/>
              </a:defRPr>
            </a:pPr>
            <a:endParaRPr lang="en-US"/>
          </a:p>
        </c:txPr>
        <c:crossAx val="2094734552"/>
        <c:crosses val="autoZero"/>
        <c:auto val="1"/>
        <c:lblAlgn val="ctr"/>
        <c:noMultiLvlLbl val="1"/>
      </c:catAx>
      <c:valAx>
        <c:axId val="2094734552"/>
        <c:scaling>
          <c:orientation val="minMax"/>
          <c:max val="24000"/>
          <c:min val="0"/>
        </c:scaling>
        <c:delete val="0"/>
        <c:axPos val="l"/>
        <c:majorGridlines>
          <c:spPr>
            <a:ln w="6350" cap="flat">
              <a:solidFill>
                <a:srgbClr val="2A262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A39A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EAD7"/>
                </a:solidFill>
                <a:latin typeface="Arial"/>
              </a:defRPr>
            </a:pPr>
            <a:r>
              <a:rPr sz="1400" b="0" i="0" u="none" strike="noStrike">
                <a:solidFill>
                  <a:srgbClr val="F3EAD7"/>
                </a:solidFill>
                <a:latin typeface="Arial"/>
              </a:rPr>
              <a:t>Match score weights</a:t>
            </a:r>
          </a:p>
        </c:rich>
      </c:tx>
      <c:layout/>
      <c:overlay val="0"/>
    </c:title>
    <c:autoTitleDeleted val="0"/>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D4AF6A"/>
              </a:solidFill>
              <a:effectLst/>
            </c:spPr>
          </c:dPt>
          <c:dPt>
            <c:idx val="1"/>
            <c:bubble3D val="0"/>
            <c:spPr>
              <a:solidFill>
                <a:srgbClr val="F0D28A"/>
              </a:solidFill>
              <a:effectLst/>
            </c:spPr>
          </c:dPt>
          <c:dPt>
            <c:idx val="2"/>
            <c:bubble3D val="0"/>
            <c:spPr>
              <a:solidFill>
                <a:srgbClr val="B8883A"/>
              </a:solidFill>
              <a:effectLst/>
            </c:spPr>
          </c:dPt>
          <c:dPt>
            <c:idx val="3"/>
            <c:bubble3D val="0"/>
            <c:spPr>
              <a:solidFill>
                <a:srgbClr val="6B5A38"/>
              </a:solidFill>
              <a:effectLst/>
            </c:spPr>
          </c:dPt>
          <c:dLbls>
            <c:dLbl>
              <c:idx val="0"/>
              <c:numFmt formatCode="0%" sourceLinked="0"/>
              <c:spPr/>
              <c:txPr>
                <a:bodyPr/>
                <a:lstStyle/>
                <a:p>
                  <a:pPr>
                    <a:defRPr sz="1200" b="0" i="0" u="none" strike="noStrike">
                      <a:solidFill>
                        <a:srgbClr val="0B0B10"/>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B0B10"/>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B0B10"/>
                      </a:solidFill>
                      <a:latin typeface="+mn-lt"/>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B0B10"/>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Budget fit</c:v>
                </c:pt>
                <c:pt idx="1">
                  <c:v>Value vs AI price</c:v>
                </c:pt>
                <c:pt idx="2">
                  <c:v>Quality</c:v>
                </c:pt>
                <c:pt idx="3">
                  <c:v>Preferences</c:v>
                </c:pt>
              </c:strCache>
            </c:strRef>
          </c:cat>
          <c:val>
            <c:numRef>
              <c:f>Sheet1!$B$2:$B$5</c:f>
              <c:numCache>
                <c:ptCount val="4"/>
                <c:pt idx="0">
                  <c:v>30</c:v>
                </c:pt>
                <c:pt idx="1">
                  <c:v>30</c:v>
                </c:pt>
                <c:pt idx="2">
                  <c:v>20</c:v>
                </c:pt>
                <c:pt idx="3">
                  <c:v>20</c:v>
                </c:pt>
              </c:numCache>
            </c:numRef>
          </c:val>
        </c:ser>
        <c:firstSliceAng val="0"/>
        <c:holeSize val="55"/>
      </c:doughnutChart>
      <c:spPr>
        <a:noFill/>
        <a:ln>
          <a:noFill/>
        </a:ln>
        <a:effectLst/>
      </c:spPr>
    </c:plotArea>
    <c:legend>
      <c:legendPos val="b"/>
      <c:overlay val="0"/>
      <c:txPr>
        <a:bodyPr/>
        <a:lstStyle/>
        <a:p>
          <a:pPr>
            <a:defRPr sz="1200">
              <a:solidFill>
                <a:srgbClr val="F3EAD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Anushay Ayat, and this is PropMind, an AI real estate intelligence platform. It is not only a model: it is a full product with price prediction, explained recommendations, an AI advisor and a document assistant. I will show the problem, how it works, the results, and then the product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Buyers face four connected problems. Prices are opinions, so it is hard to know if an asking price is fair. Matching homes to a budget is manual and rarely explained. Buying guides and legal documents are long and hard to search. And all these tools live in different places. PropMind brings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PropMind has five capabilities. Predict gives a fair price with a range. Discover recommends homes and explains why. The AI advisor answers questions with prompt engineering. The document assistant uses RAG to answer from guides with citations. Insights shows market patterns. All of it sits on one FastAPI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calls a small JSON API in FastAPI, which also renders the pages. The real logic lives in plain Python services for prediction, recommendation, RAG and the assistant. This makes them easy to test. The assistant calls Groq, and if there is no key it falls back to an offline mode instead of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Ames Housing dataset from Kaggle: 1,460 sales and 79 features. After cleaning, 1,458 homes with no missing values remain. A key lesson: in many columns, NA means the feature does not exist, so we made it its own category instead of deleting data. The deployed model uses nine simple inputs that a buyer can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matters a lot: the median price in the most expensive neighborhood is about three and a half times that of the cheapest. Overall quality has a correlation of about 0.8 with price. Prices are right-skewed, so we predict the log of the price, which brings the skewness from 1.88 down to 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final Random Forest, overall quality carries more than half of the total importance, followed by living area, neighborhood, basement size and garage. Bedrooms and bathrooms add very little once size and quality are known, which matches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Linear Regression, a Decision Tree and a Random Forest on a held-out test set. The Random Forest has the lowest average error, about seventeen thousand eight hundred dollars, and the best R squared. Linear Regression is close and even has a slightly higher cross-validated score, so the margin is small; we chose the forest for its lower error and its ability to capture non-linear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homes the model never saw, sixty-three percent of predictions are within ten percent of the real price, seventy-seven percent within fifteen, and eighty-seven percent within twenty. The median error is six point six percent. The model is less accurate for the rare, very expensive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favorite lesson. The first model looked good on the metrics, but a test showed that for the same house most neighborhoods returned the identical price of 203,204 dollars. The one-hot neighborhood columns were almost never used by the trees. I switched to target encoding. Now the same home ranges from about 165 thousand to 211 thousand dollars across neighborhoods. We must test a model as a product, not only with a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recommender filters by budget, bedrooms and neighborhoods, then scores each home. Thirty percent for how well it uses the budget, thirty for value compared with the AI fair price, twenty for quality and twenty for matching preferences. Every result lists its reasons, so the ranking can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uses a structured system prompt. It sets the role and tone, injects real market facts from our data, forbids invented numbers, states professional limits, and asks for balanced advice. If the Groq key is missing the product still works in an honest offline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document assistant, we split four property documents into passages and index them. A question retrieves the top four passages, and the language model must answer only from them and cite them. On our 15-question test, the right document was ranked first every time after we added light stemming and title weighting, up from 93 percent. The test set is small, so we treat this as evidence, not a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of the seven pages. The predictor shows the price, the likely range and what-if effects, and can download a PDF report. The recommendation page explains matches and lets you compare. Insights ranks neighborhoods interactively. There is also login, saved homes, and a document upload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was part of the plan. There are ten automated tests, the pages were exercised in a real browser, and the app has an offline fallback. For deployment, the code lives on GitHub, the backend and website run on Vercel, and a static copy can be hosted on Firebase Hosting, all on free plans without a billing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the data is one city from 2006 to 2010, so estimates are educational, not appraisals. Retrieval matches words, not meaning. Login is a demo stored in the browser. Next steps are embedding-based retrieval, real authentication with Firebase, better models and a larger dataset, a map view, and Urdu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summarize: PropMind combines data analysis, machine learning, generative AI and RAG in one tested, deployable product, and I was careful to measure its limits honestly. I am happy to take questions or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0B1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0B10"/>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A39A85"/>
                </a:solidFill>
              </a:rPr>
              <a:t>◆ PropMind · AI Real Estate Intelligence</a:t>
            </a:r>
            <a:endParaRPr lang="en-US" sz="1000" dirty="0"/>
          </a:p>
        </p:txBody>
      </p:sp>
      <p:sp>
        <p:nvSpPr>
          <p:cNvPr id="3" name="Text 1"/>
          <p:cNvSpPr/>
          <p:nvPr>
            <p:ph idx="101" type="title" hasCustomPrompt="1"/>
          </p:nvPr>
        </p:nvSpPr>
        <p:spPr>
          <a:xfrm>
            <a:off x="548640" y="365760"/>
            <a:ext cx="11064240" cy="91440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43000"/>
            <a:ext cx="5486400" cy="365760"/>
          </a:xfrm>
          <a:prstGeom prst="rect">
            <a:avLst/>
          </a:prstGeom>
          <a:noFill/>
          <a:ln/>
        </p:spPr>
        <p:txBody>
          <a:bodyPr wrap="square" lIns="0" tIns="0" rIns="0" bIns="0" rtlCol="0" anchor="t"/>
          <a:lstStyle/>
          <a:p>
            <a:pPr indent="0" marL="0">
              <a:buNone/>
            </a:pPr>
            <a:r>
              <a:rPr lang="en-US" sz="1400" b="1" spc="400" kern="0" dirty="0">
                <a:solidFill>
                  <a:schemeClr val="accent1"/>
                </a:solidFill>
              </a:rPr>
              <a:t>AI &amp; DATA SCIENCE FINAL PROJECT</a:t>
            </a:r>
            <a:endParaRPr lang="en-US" sz="1400" dirty="0"/>
          </a:p>
        </p:txBody>
      </p:sp>
      <p:sp>
        <p:nvSpPr>
          <p:cNvPr id="3" name="Text 1"/>
          <p:cNvSpPr txBox="1"/>
          <p:nvPr/>
        </p:nvSpPr>
        <p:spPr>
          <a:xfrm>
            <a:off x="640080" y="1645920"/>
            <a:ext cx="5669280" cy="118872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 PropMind</a:t>
            </a:r>
            <a:endParaRPr lang="en-US" sz="6600" dirty="0"/>
          </a:p>
        </p:txBody>
      </p:sp>
      <p:sp>
        <p:nvSpPr>
          <p:cNvPr id="4" name="Text 2"/>
          <p:cNvSpPr txBox="1"/>
          <p:nvPr/>
        </p:nvSpPr>
        <p:spPr>
          <a:xfrm>
            <a:off x="640080" y="2880360"/>
            <a:ext cx="5486400" cy="914400"/>
          </a:xfrm>
          <a:prstGeom prst="rect">
            <a:avLst/>
          </a:prstGeom>
          <a:noFill/>
          <a:ln/>
        </p:spPr>
        <p:txBody>
          <a:bodyPr wrap="square" lIns="0" tIns="0" rIns="0" bIns="0" rtlCol="0" anchor="t"/>
          <a:lstStyle/>
          <a:p>
            <a:pPr indent="0" marL="0">
              <a:buNone/>
            </a:pPr>
            <a:r>
              <a:rPr lang="en-US" sz="2600" dirty="0">
                <a:solidFill>
                  <a:schemeClr val="tx1"/>
                </a:solidFill>
                <a:latin typeface="Cambria" pitchFamily="34" charset="0"/>
                <a:ea typeface="Cambria" pitchFamily="34" charset="-122"/>
                <a:cs typeface="Cambria" pitchFamily="34" charset="-120"/>
              </a:rPr>
              <a:t>AI Real Estate Intelligence Platform</a:t>
            </a:r>
            <a:endParaRPr lang="en-US" sz="2600" dirty="0"/>
          </a:p>
        </p:txBody>
      </p:sp>
      <p:sp>
        <p:nvSpPr>
          <p:cNvPr id="5" name="Text 3"/>
          <p:cNvSpPr txBox="1"/>
          <p:nvPr/>
        </p:nvSpPr>
        <p:spPr>
          <a:xfrm>
            <a:off x="640080" y="3931920"/>
            <a:ext cx="5394960" cy="731520"/>
          </a:xfrm>
          <a:prstGeom prst="rect">
            <a:avLst/>
          </a:prstGeom>
          <a:noFill/>
          <a:ln/>
        </p:spPr>
        <p:txBody>
          <a:bodyPr wrap="square" lIns="0" tIns="0" rIns="0" bIns="0" rtlCol="0" anchor="t"/>
          <a:lstStyle/>
          <a:p>
            <a:pPr indent="0" marL="0">
              <a:buNone/>
            </a:pPr>
            <a:r>
              <a:rPr lang="en-US" sz="1600" dirty="0">
                <a:solidFill>
                  <a:schemeClr val="tx2"/>
                </a:solidFill>
              </a:rPr>
              <a:t>Predict prices · Explained recommendations · AI advisor · Document RAG</a:t>
            </a:r>
            <a:endParaRPr lang="en-US" sz="1600" dirty="0"/>
          </a:p>
        </p:txBody>
      </p:sp>
      <p:sp>
        <p:nvSpPr>
          <p:cNvPr id="6" name="Text 4"/>
          <p:cNvSpPr txBox="1"/>
          <p:nvPr/>
        </p:nvSpPr>
        <p:spPr>
          <a:xfrm>
            <a:off x="640080" y="5303520"/>
            <a:ext cx="5486400" cy="731520"/>
          </a:xfrm>
          <a:prstGeom prst="rect">
            <a:avLst/>
          </a:prstGeom>
          <a:noFill/>
          <a:ln/>
        </p:spPr>
        <p:txBody>
          <a:bodyPr wrap="square" lIns="0" tIns="0" rIns="0" bIns="0" rtlCol="0" anchor="t"/>
          <a:lstStyle/>
          <a:p>
            <a:pPr indent="0" marL="0">
              <a:buNone/>
            </a:pPr>
            <a:r>
              <a:rPr lang="en-US" sz="1600" b="1" dirty="0">
                <a:solidFill>
                  <a:schemeClr val="tx1"/>
                </a:solidFill>
              </a:rPr>
              <a:t>Anushay Ayat</a:t>
            </a:r>
            <a:endParaRPr lang="en-US" sz="1600" dirty="0"/>
          </a:p>
          <a:p>
            <a:pPr indent="0" marL="0">
              <a:buNone/>
            </a:pPr>
            <a:r>
              <a:rPr lang="en-US" sz="1600" dirty="0">
                <a:solidFill>
                  <a:schemeClr val="tx2"/>
                </a:solidFill>
              </a:rPr>
              <a:t>SMIT (Saylani Mass IT Training) · October 2026</a:t>
            </a:r>
            <a:endParaRPr lang="en-US" sz="1600" dirty="0"/>
          </a:p>
        </p:txBody>
      </p:sp>
      <p:sp>
        <p:nvSpPr>
          <p:cNvPr id="7" name="frame PropMind home page screenshot"/>
          <p:cNvSpPr/>
          <p:nvPr/>
        </p:nvSpPr>
        <p:spPr>
          <a:xfrm>
            <a:off x="6428232" y="1644777"/>
            <a:ext cx="5340096" cy="3385566"/>
          </a:xfrm>
          <a:prstGeom prst="roundRect">
            <a:avLst>
              <a:gd name="adj" fmla="val 2161"/>
            </a:avLst>
          </a:prstGeom>
          <a:solidFill>
            <a:schemeClr val="bg2"/>
          </a:solidFill>
          <a:ln w="12700">
            <a:solidFill>
              <a:schemeClr val="accent2"/>
            </a:solidFill>
            <a:prstDash val="solid"/>
          </a:ln>
        </p:spPr>
      </p:sp>
      <p:pic>
        <p:nvPicPr>
          <p:cNvPr id="8" name="Image 0" descr="PropMind home page screenshot">    </p:cNvPr>
          <p:cNvPicPr>
            <a:picLocks noChangeAspect="1"/>
          </p:cNvPicPr>
          <p:nvPr/>
        </p:nvPicPr>
        <p:blipFill>
          <a:blip r:embed="rId1"/>
          <a:stretch>
            <a:fillRect/>
          </a:stretch>
        </p:blipFill>
        <p:spPr>
          <a:xfrm>
            <a:off x="6492240" y="1708785"/>
            <a:ext cx="5212080" cy="3257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Buying a home is a decision made in the dark</a:t>
            </a:r>
            <a:endParaRPr lang="en-US" sz="3400" dirty="0"/>
          </a:p>
        </p:txBody>
      </p:sp>
      <p:sp>
        <p:nvSpPr>
          <p:cNvPr id="4" name="problem card 0"/>
          <p:cNvSpPr/>
          <p:nvPr/>
        </p:nvSpPr>
        <p:spPr>
          <a:xfrm>
            <a:off x="548640" y="1645920"/>
            <a:ext cx="2606040" cy="3200400"/>
          </a:xfrm>
          <a:prstGeom prst="roundRect">
            <a:avLst>
              <a:gd name="adj" fmla="val 4211"/>
            </a:avLst>
          </a:prstGeom>
          <a:solidFill>
            <a:schemeClr val="bg2"/>
          </a:solidFill>
          <a:ln w="9525">
            <a:solidFill>
              <a:srgbClr val="3A3426"/>
            </a:solidFill>
            <a:prstDash val="solid"/>
          </a:ln>
        </p:spPr>
      </p:sp>
      <p:sp>
        <p:nvSpPr>
          <p:cNvPr id="5" name="iconbg FaSearchDollar"/>
          <p:cNvSpPr/>
          <p:nvPr/>
        </p:nvSpPr>
        <p:spPr>
          <a:xfrm>
            <a:off x="822960" y="1920240"/>
            <a:ext cx="777240" cy="777240"/>
          </a:xfrm>
          <a:prstGeom prst="ellipse">
            <a:avLst/>
          </a:prstGeom>
          <a:solidFill>
            <a:schemeClr val="accent1"/>
          </a:solidFill>
          <a:ln w="12700">
            <a:solidFill>
              <a:schemeClr val="accent1"/>
            </a:solidFill>
            <a:prstDash val="solid"/>
          </a:ln>
        </p:spPr>
      </p:sp>
      <p:pic>
        <p:nvPicPr>
          <p:cNvPr id="6" name="Image 0" descr="SearchDollar icon">    </p:cNvPr>
          <p:cNvPicPr>
            <a:picLocks noChangeAspect="1"/>
          </p:cNvPicPr>
          <p:nvPr/>
        </p:nvPicPr>
        <p:blipFill>
          <a:blip r:embed="rId1"/>
          <a:stretch>
            <a:fillRect/>
          </a:stretch>
        </p:blipFill>
        <p:spPr>
          <a:xfrm>
            <a:off x="993953" y="2091233"/>
            <a:ext cx="435254" cy="435254"/>
          </a:xfrm>
          <a:prstGeom prst="rect">
            <a:avLst/>
          </a:prstGeom>
        </p:spPr>
      </p:pic>
      <p:sp>
        <p:nvSpPr>
          <p:cNvPr id="7" name="Text 3"/>
          <p:cNvSpPr txBox="1"/>
          <p:nvPr/>
        </p:nvSpPr>
        <p:spPr>
          <a:xfrm>
            <a:off x="822960" y="2926080"/>
            <a:ext cx="2103120" cy="5486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Opaque pricing</a:t>
            </a:r>
            <a:endParaRPr lang="en-US" sz="2000" dirty="0"/>
          </a:p>
        </p:txBody>
      </p:sp>
      <p:sp>
        <p:nvSpPr>
          <p:cNvPr id="8" name="Text 4"/>
          <p:cNvSpPr txBox="1"/>
          <p:nvPr/>
        </p:nvSpPr>
        <p:spPr>
          <a:xfrm>
            <a:off x="822960" y="3794760"/>
            <a:ext cx="2103120" cy="1005840"/>
          </a:xfrm>
          <a:prstGeom prst="rect">
            <a:avLst/>
          </a:prstGeom>
          <a:noFill/>
          <a:ln/>
        </p:spPr>
        <p:txBody>
          <a:bodyPr wrap="square" lIns="0" tIns="0" rIns="0" bIns="0" rtlCol="0" anchor="t"/>
          <a:lstStyle/>
          <a:p>
            <a:pPr indent="0" marL="0">
              <a:buNone/>
            </a:pPr>
            <a:r>
              <a:rPr lang="en-US" sz="1400" dirty="0">
                <a:solidFill>
                  <a:schemeClr val="tx2"/>
                </a:solidFill>
              </a:rPr>
              <a:t>Is this asking price fair for this specific home?</a:t>
            </a:r>
            <a:endParaRPr lang="en-US" sz="1400" dirty="0"/>
          </a:p>
        </p:txBody>
      </p:sp>
      <p:sp>
        <p:nvSpPr>
          <p:cNvPr id="9" name="problem card 1"/>
          <p:cNvSpPr/>
          <p:nvPr/>
        </p:nvSpPr>
        <p:spPr>
          <a:xfrm>
            <a:off x="3367735" y="1645920"/>
            <a:ext cx="2606040" cy="3200400"/>
          </a:xfrm>
          <a:prstGeom prst="roundRect">
            <a:avLst>
              <a:gd name="adj" fmla="val 4211"/>
            </a:avLst>
          </a:prstGeom>
          <a:solidFill>
            <a:schemeClr val="bg2"/>
          </a:solidFill>
          <a:ln w="9525">
            <a:solidFill>
              <a:srgbClr val="3A3426"/>
            </a:solidFill>
            <a:prstDash val="solid"/>
          </a:ln>
        </p:spPr>
      </p:sp>
      <p:sp>
        <p:nvSpPr>
          <p:cNvPr id="10" name="iconbg FaPuzzlePiece"/>
          <p:cNvSpPr/>
          <p:nvPr/>
        </p:nvSpPr>
        <p:spPr>
          <a:xfrm>
            <a:off x="3642055" y="1920240"/>
            <a:ext cx="777240" cy="777240"/>
          </a:xfrm>
          <a:prstGeom prst="ellipse">
            <a:avLst/>
          </a:prstGeom>
          <a:solidFill>
            <a:schemeClr val="accent1"/>
          </a:solidFill>
          <a:ln w="12700">
            <a:solidFill>
              <a:schemeClr val="accent1"/>
            </a:solidFill>
            <a:prstDash val="solid"/>
          </a:ln>
        </p:spPr>
      </p:sp>
      <p:pic>
        <p:nvPicPr>
          <p:cNvPr id="11" name="Image 1" descr="PuzzlePiece icon">    </p:cNvPr>
          <p:cNvPicPr>
            <a:picLocks noChangeAspect="1"/>
          </p:cNvPicPr>
          <p:nvPr/>
        </p:nvPicPr>
        <p:blipFill>
          <a:blip r:embed="rId2"/>
          <a:stretch>
            <a:fillRect/>
          </a:stretch>
        </p:blipFill>
        <p:spPr>
          <a:xfrm>
            <a:off x="3813048" y="2091233"/>
            <a:ext cx="435254" cy="435254"/>
          </a:xfrm>
          <a:prstGeom prst="rect">
            <a:avLst/>
          </a:prstGeom>
        </p:spPr>
      </p:pic>
      <p:sp>
        <p:nvSpPr>
          <p:cNvPr id="12" name="Text 7"/>
          <p:cNvSpPr txBox="1"/>
          <p:nvPr/>
        </p:nvSpPr>
        <p:spPr>
          <a:xfrm>
            <a:off x="3642055" y="2926080"/>
            <a:ext cx="2103120" cy="5486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Manual matching</a:t>
            </a:r>
            <a:endParaRPr lang="en-US" sz="2000" dirty="0"/>
          </a:p>
        </p:txBody>
      </p:sp>
      <p:sp>
        <p:nvSpPr>
          <p:cNvPr id="13" name="Text 8"/>
          <p:cNvSpPr txBox="1"/>
          <p:nvPr/>
        </p:nvSpPr>
        <p:spPr>
          <a:xfrm>
            <a:off x="3642055" y="3794760"/>
            <a:ext cx="2103120" cy="1005840"/>
          </a:xfrm>
          <a:prstGeom prst="rect">
            <a:avLst/>
          </a:prstGeom>
          <a:noFill/>
          <a:ln/>
        </p:spPr>
        <p:txBody>
          <a:bodyPr wrap="square" lIns="0" tIns="0" rIns="0" bIns="0" rtlCol="0" anchor="t"/>
          <a:lstStyle/>
          <a:p>
            <a:pPr indent="0" marL="0">
              <a:buNone/>
            </a:pPr>
            <a:r>
              <a:rPr lang="en-US" sz="1400" dirty="0">
                <a:solidFill>
                  <a:schemeClr val="tx2"/>
                </a:solidFill>
              </a:rPr>
              <a:t>Filtering is slow and nobody explains why a home fits.</a:t>
            </a:r>
            <a:endParaRPr lang="en-US" sz="1400" dirty="0"/>
          </a:p>
        </p:txBody>
      </p:sp>
      <p:sp>
        <p:nvSpPr>
          <p:cNvPr id="14" name="problem card 2"/>
          <p:cNvSpPr/>
          <p:nvPr/>
        </p:nvSpPr>
        <p:spPr>
          <a:xfrm>
            <a:off x="6186830" y="1645920"/>
            <a:ext cx="2606040" cy="3200400"/>
          </a:xfrm>
          <a:prstGeom prst="roundRect">
            <a:avLst>
              <a:gd name="adj" fmla="val 4211"/>
            </a:avLst>
          </a:prstGeom>
          <a:solidFill>
            <a:schemeClr val="bg2"/>
          </a:solidFill>
          <a:ln w="9525">
            <a:solidFill>
              <a:srgbClr val="3A3426"/>
            </a:solidFill>
            <a:prstDash val="solid"/>
          </a:ln>
        </p:spPr>
      </p:sp>
      <p:sp>
        <p:nvSpPr>
          <p:cNvPr id="15" name="iconbg FaFileContract"/>
          <p:cNvSpPr/>
          <p:nvPr/>
        </p:nvSpPr>
        <p:spPr>
          <a:xfrm>
            <a:off x="6461150" y="1920240"/>
            <a:ext cx="777240" cy="777240"/>
          </a:xfrm>
          <a:prstGeom prst="ellipse">
            <a:avLst/>
          </a:prstGeom>
          <a:solidFill>
            <a:schemeClr val="accent1"/>
          </a:solidFill>
          <a:ln w="12700">
            <a:solidFill>
              <a:schemeClr val="accent1"/>
            </a:solidFill>
            <a:prstDash val="solid"/>
          </a:ln>
        </p:spPr>
      </p:sp>
      <p:pic>
        <p:nvPicPr>
          <p:cNvPr id="16" name="Image 2" descr="FileContract icon">    </p:cNvPr>
          <p:cNvPicPr>
            <a:picLocks noChangeAspect="1"/>
          </p:cNvPicPr>
          <p:nvPr/>
        </p:nvPicPr>
        <p:blipFill>
          <a:blip r:embed="rId3"/>
          <a:stretch>
            <a:fillRect/>
          </a:stretch>
        </p:blipFill>
        <p:spPr>
          <a:xfrm>
            <a:off x="6632143" y="2091233"/>
            <a:ext cx="435254" cy="435254"/>
          </a:xfrm>
          <a:prstGeom prst="rect">
            <a:avLst/>
          </a:prstGeom>
        </p:spPr>
      </p:pic>
      <p:sp>
        <p:nvSpPr>
          <p:cNvPr id="17" name="Text 11"/>
          <p:cNvSpPr txBox="1"/>
          <p:nvPr/>
        </p:nvSpPr>
        <p:spPr>
          <a:xfrm>
            <a:off x="6461150" y="2926080"/>
            <a:ext cx="2103120" cy="5486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Dense documents</a:t>
            </a:r>
            <a:endParaRPr lang="en-US" sz="2000" dirty="0"/>
          </a:p>
        </p:txBody>
      </p:sp>
      <p:sp>
        <p:nvSpPr>
          <p:cNvPr id="18" name="Text 12"/>
          <p:cNvSpPr txBox="1"/>
          <p:nvPr/>
        </p:nvSpPr>
        <p:spPr>
          <a:xfrm>
            <a:off x="6461150" y="3794760"/>
            <a:ext cx="2103120" cy="1005840"/>
          </a:xfrm>
          <a:prstGeom prst="rect">
            <a:avLst/>
          </a:prstGeom>
          <a:noFill/>
          <a:ln/>
        </p:spPr>
        <p:txBody>
          <a:bodyPr wrap="square" lIns="0" tIns="0" rIns="0" bIns="0" rtlCol="0" anchor="t"/>
          <a:lstStyle/>
          <a:p>
            <a:pPr indent="0" marL="0">
              <a:buNone/>
            </a:pPr>
            <a:r>
              <a:rPr lang="en-US" sz="1400" dirty="0">
                <a:solidFill>
                  <a:schemeClr val="tx2"/>
                </a:solidFill>
              </a:rPr>
              <a:t>Guides and legal steps are long and difficult to search.</a:t>
            </a:r>
            <a:endParaRPr lang="en-US" sz="1400" dirty="0"/>
          </a:p>
        </p:txBody>
      </p:sp>
      <p:sp>
        <p:nvSpPr>
          <p:cNvPr id="19" name="problem card 3"/>
          <p:cNvSpPr/>
          <p:nvPr/>
        </p:nvSpPr>
        <p:spPr>
          <a:xfrm>
            <a:off x="9005926" y="1645920"/>
            <a:ext cx="2606040" cy="3200400"/>
          </a:xfrm>
          <a:prstGeom prst="roundRect">
            <a:avLst>
              <a:gd name="adj" fmla="val 4211"/>
            </a:avLst>
          </a:prstGeom>
          <a:solidFill>
            <a:schemeClr val="bg2"/>
          </a:solidFill>
          <a:ln w="9525">
            <a:solidFill>
              <a:srgbClr val="3A3426"/>
            </a:solidFill>
            <a:prstDash val="solid"/>
          </a:ln>
        </p:spPr>
      </p:sp>
      <p:sp>
        <p:nvSpPr>
          <p:cNvPr id="20" name="iconbg FaLayerGroup"/>
          <p:cNvSpPr/>
          <p:nvPr/>
        </p:nvSpPr>
        <p:spPr>
          <a:xfrm>
            <a:off x="9280246" y="1920240"/>
            <a:ext cx="777240" cy="777240"/>
          </a:xfrm>
          <a:prstGeom prst="ellipse">
            <a:avLst/>
          </a:prstGeom>
          <a:solidFill>
            <a:schemeClr val="accent1"/>
          </a:solidFill>
          <a:ln w="12700">
            <a:solidFill>
              <a:schemeClr val="accent1"/>
            </a:solidFill>
            <a:prstDash val="solid"/>
          </a:ln>
        </p:spPr>
      </p:sp>
      <p:pic>
        <p:nvPicPr>
          <p:cNvPr id="21" name="Image 3" descr="LayerGroup icon">    </p:cNvPr>
          <p:cNvPicPr>
            <a:picLocks noChangeAspect="1"/>
          </p:cNvPicPr>
          <p:nvPr/>
        </p:nvPicPr>
        <p:blipFill>
          <a:blip r:embed="rId4"/>
          <a:stretch>
            <a:fillRect/>
          </a:stretch>
        </p:blipFill>
        <p:spPr>
          <a:xfrm>
            <a:off x="9451238" y="2091233"/>
            <a:ext cx="435254" cy="435254"/>
          </a:xfrm>
          <a:prstGeom prst="rect">
            <a:avLst/>
          </a:prstGeom>
        </p:spPr>
      </p:pic>
      <p:sp>
        <p:nvSpPr>
          <p:cNvPr id="22" name="Text 15"/>
          <p:cNvSpPr txBox="1"/>
          <p:nvPr/>
        </p:nvSpPr>
        <p:spPr>
          <a:xfrm>
            <a:off x="9280246" y="2926080"/>
            <a:ext cx="2103120" cy="5486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Fragmented tools</a:t>
            </a:r>
            <a:endParaRPr lang="en-US" sz="2000" dirty="0"/>
          </a:p>
        </p:txBody>
      </p:sp>
      <p:sp>
        <p:nvSpPr>
          <p:cNvPr id="23" name="Text 16"/>
          <p:cNvSpPr txBox="1"/>
          <p:nvPr/>
        </p:nvSpPr>
        <p:spPr>
          <a:xfrm>
            <a:off x="9280246" y="3794760"/>
            <a:ext cx="2103120" cy="1005840"/>
          </a:xfrm>
          <a:prstGeom prst="rect">
            <a:avLst/>
          </a:prstGeom>
          <a:noFill/>
          <a:ln/>
        </p:spPr>
        <p:txBody>
          <a:bodyPr wrap="square" lIns="0" tIns="0" rIns="0" bIns="0" rtlCol="0" anchor="t"/>
          <a:lstStyle/>
          <a:p>
            <a:pPr indent="0" marL="0">
              <a:buNone/>
            </a:pPr>
            <a:r>
              <a:rPr lang="en-US" sz="1400" dirty="0">
                <a:solidFill>
                  <a:schemeClr val="tx2"/>
                </a:solidFill>
              </a:rPr>
              <a:t>Valuation, search, advice and documents sit in different places.</a:t>
            </a:r>
            <a:endParaRPr lang="en-US" sz="1400" dirty="0"/>
          </a:p>
        </p:txBody>
      </p:sp>
      <p:sp>
        <p:nvSpPr>
          <p:cNvPr id="24" name="Text 17"/>
          <p:cNvSpPr txBox="1"/>
          <p:nvPr/>
        </p:nvSpPr>
        <p:spPr>
          <a:xfrm>
            <a:off x="548640" y="5303520"/>
            <a:ext cx="11064240" cy="457200"/>
          </a:xfrm>
          <a:prstGeom prst="rect">
            <a:avLst/>
          </a:prstGeom>
          <a:noFill/>
          <a:ln/>
        </p:spPr>
        <p:txBody>
          <a:bodyPr wrap="square" lIns="0" tIns="0" rIns="0" bIns="0" rtlCol="0" anchor="t"/>
          <a:lstStyle/>
          <a:p>
            <a:pPr indent="0" marL="0">
              <a:buNone/>
            </a:pPr>
            <a:r>
              <a:rPr lang="en-US" sz="2000" i="1" dirty="0">
                <a:solidFill>
                  <a:schemeClr val="accent1"/>
                </a:solidFill>
                <a:latin typeface="Cambria" pitchFamily="34" charset="0"/>
                <a:ea typeface="Cambria" pitchFamily="34" charset="-122"/>
                <a:cs typeface="Cambria" pitchFamily="34" charset="-120"/>
              </a:rPr>
              <a:t>PropMind turns these four gaps into one explainable product.</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One platform, five capabilities</a:t>
            </a:r>
            <a:endParaRPr lang="en-US" sz="3400" dirty="0"/>
          </a:p>
        </p:txBody>
      </p:sp>
      <p:sp>
        <p:nvSpPr>
          <p:cNvPr id="4" name="capability card 0"/>
          <p:cNvSpPr/>
          <p:nvPr/>
        </p:nvSpPr>
        <p:spPr>
          <a:xfrm>
            <a:off x="548640" y="1645920"/>
            <a:ext cx="2103120" cy="3017520"/>
          </a:xfrm>
          <a:prstGeom prst="roundRect">
            <a:avLst>
              <a:gd name="adj" fmla="val 5217"/>
            </a:avLst>
          </a:prstGeom>
          <a:solidFill>
            <a:schemeClr val="bg2"/>
          </a:solidFill>
          <a:ln w="9525">
            <a:solidFill>
              <a:srgbClr val="3A3426"/>
            </a:solidFill>
            <a:prstDash val="solid"/>
          </a:ln>
        </p:spPr>
      </p:sp>
      <p:sp>
        <p:nvSpPr>
          <p:cNvPr id="5" name="iconbg FaChartLine"/>
          <p:cNvSpPr/>
          <p:nvPr/>
        </p:nvSpPr>
        <p:spPr>
          <a:xfrm>
            <a:off x="822960" y="1920240"/>
            <a:ext cx="731520" cy="731520"/>
          </a:xfrm>
          <a:prstGeom prst="ellipse">
            <a:avLst/>
          </a:prstGeom>
          <a:solidFill>
            <a:schemeClr val="accent1"/>
          </a:solidFill>
          <a:ln w="12700">
            <a:solidFill>
              <a:schemeClr val="accent1"/>
            </a:solidFill>
            <a:prstDash val="solid"/>
          </a:ln>
        </p:spPr>
      </p:sp>
      <p:pic>
        <p:nvPicPr>
          <p:cNvPr id="6" name="Image 0" descr="ChartLine icon">    </p:cNvPr>
          <p:cNvPicPr>
            <a:picLocks noChangeAspect="1"/>
          </p:cNvPicPr>
          <p:nvPr/>
        </p:nvPicPr>
        <p:blipFill>
          <a:blip r:embed="rId1"/>
          <a:stretch>
            <a:fillRect/>
          </a:stretch>
        </p:blipFill>
        <p:spPr>
          <a:xfrm>
            <a:off x="983894" y="2081174"/>
            <a:ext cx="409651" cy="409651"/>
          </a:xfrm>
          <a:prstGeom prst="rect">
            <a:avLst/>
          </a:prstGeom>
        </p:spPr>
      </p:pic>
      <p:sp>
        <p:nvSpPr>
          <p:cNvPr id="7" name="Text 3"/>
          <p:cNvSpPr txBox="1"/>
          <p:nvPr/>
        </p:nvSpPr>
        <p:spPr>
          <a:xfrm>
            <a:off x="822960" y="2880360"/>
            <a:ext cx="173736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Predict</a:t>
            </a:r>
            <a:endParaRPr lang="en-US" sz="1800" dirty="0"/>
          </a:p>
        </p:txBody>
      </p:sp>
      <p:sp>
        <p:nvSpPr>
          <p:cNvPr id="8" name="Text 4"/>
          <p:cNvSpPr txBox="1"/>
          <p:nvPr/>
        </p:nvSpPr>
        <p:spPr>
          <a:xfrm>
            <a:off x="822960" y="3429000"/>
            <a:ext cx="1600200" cy="1097280"/>
          </a:xfrm>
          <a:prstGeom prst="rect">
            <a:avLst/>
          </a:prstGeom>
          <a:noFill/>
          <a:ln/>
        </p:spPr>
        <p:txBody>
          <a:bodyPr wrap="square" lIns="0" tIns="0" rIns="0" bIns="0" rtlCol="0" anchor="t"/>
          <a:lstStyle/>
          <a:p>
            <a:pPr indent="0" marL="0">
              <a:buNone/>
            </a:pPr>
            <a:r>
              <a:rPr lang="en-US" sz="1400" dirty="0">
                <a:solidFill>
                  <a:schemeClr val="tx2"/>
                </a:solidFill>
              </a:rPr>
              <a:t>Fair price, likely range and what-if effects</a:t>
            </a:r>
            <a:endParaRPr lang="en-US" sz="1400" dirty="0"/>
          </a:p>
        </p:txBody>
      </p:sp>
      <p:sp>
        <p:nvSpPr>
          <p:cNvPr id="9" name="capability card 1"/>
          <p:cNvSpPr/>
          <p:nvPr/>
        </p:nvSpPr>
        <p:spPr>
          <a:xfrm>
            <a:off x="2788920" y="1645920"/>
            <a:ext cx="2103120" cy="3017520"/>
          </a:xfrm>
          <a:prstGeom prst="roundRect">
            <a:avLst>
              <a:gd name="adj" fmla="val 5217"/>
            </a:avLst>
          </a:prstGeom>
          <a:solidFill>
            <a:schemeClr val="bg2"/>
          </a:solidFill>
          <a:ln w="9525">
            <a:solidFill>
              <a:srgbClr val="3A3426"/>
            </a:solidFill>
            <a:prstDash val="solid"/>
          </a:ln>
        </p:spPr>
      </p:sp>
      <p:sp>
        <p:nvSpPr>
          <p:cNvPr id="10" name="iconbg FaStar"/>
          <p:cNvSpPr/>
          <p:nvPr/>
        </p:nvSpPr>
        <p:spPr>
          <a:xfrm>
            <a:off x="3063240" y="1920240"/>
            <a:ext cx="731520" cy="731520"/>
          </a:xfrm>
          <a:prstGeom prst="ellipse">
            <a:avLst/>
          </a:prstGeom>
          <a:solidFill>
            <a:schemeClr val="accent1"/>
          </a:solidFill>
          <a:ln w="12700">
            <a:solidFill>
              <a:schemeClr val="accent1"/>
            </a:solidFill>
            <a:prstDash val="solid"/>
          </a:ln>
        </p:spPr>
      </p:sp>
      <p:pic>
        <p:nvPicPr>
          <p:cNvPr id="11" name="Image 1" descr="Star icon">    </p:cNvPr>
          <p:cNvPicPr>
            <a:picLocks noChangeAspect="1"/>
          </p:cNvPicPr>
          <p:nvPr/>
        </p:nvPicPr>
        <p:blipFill>
          <a:blip r:embed="rId2"/>
          <a:stretch>
            <a:fillRect/>
          </a:stretch>
        </p:blipFill>
        <p:spPr>
          <a:xfrm>
            <a:off x="3224174" y="2081174"/>
            <a:ext cx="409651" cy="409651"/>
          </a:xfrm>
          <a:prstGeom prst="rect">
            <a:avLst/>
          </a:prstGeom>
        </p:spPr>
      </p:pic>
      <p:sp>
        <p:nvSpPr>
          <p:cNvPr id="12" name="Text 7"/>
          <p:cNvSpPr txBox="1"/>
          <p:nvPr/>
        </p:nvSpPr>
        <p:spPr>
          <a:xfrm>
            <a:off x="3063240" y="2880360"/>
            <a:ext cx="173736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Discover</a:t>
            </a:r>
            <a:endParaRPr lang="en-US" sz="1800" dirty="0"/>
          </a:p>
        </p:txBody>
      </p:sp>
      <p:sp>
        <p:nvSpPr>
          <p:cNvPr id="13" name="Text 8"/>
          <p:cNvSpPr txBox="1"/>
          <p:nvPr/>
        </p:nvSpPr>
        <p:spPr>
          <a:xfrm>
            <a:off x="3063240" y="3429000"/>
            <a:ext cx="1600200" cy="1097280"/>
          </a:xfrm>
          <a:prstGeom prst="rect">
            <a:avLst/>
          </a:prstGeom>
          <a:noFill/>
          <a:ln/>
        </p:spPr>
        <p:txBody>
          <a:bodyPr wrap="square" lIns="0" tIns="0" rIns="0" bIns="0" rtlCol="0" anchor="t"/>
          <a:lstStyle/>
          <a:p>
            <a:pPr indent="0" marL="0">
              <a:buNone/>
            </a:pPr>
            <a:r>
              <a:rPr lang="en-US" sz="1400" dirty="0">
                <a:solidFill>
                  <a:schemeClr val="tx2"/>
                </a:solidFill>
              </a:rPr>
              <a:t>Ranked homes, each with reasons</a:t>
            </a:r>
            <a:endParaRPr lang="en-US" sz="1400" dirty="0"/>
          </a:p>
        </p:txBody>
      </p:sp>
      <p:sp>
        <p:nvSpPr>
          <p:cNvPr id="14" name="capability card 2"/>
          <p:cNvSpPr/>
          <p:nvPr/>
        </p:nvSpPr>
        <p:spPr>
          <a:xfrm>
            <a:off x="5029200" y="1645920"/>
            <a:ext cx="2103120" cy="3017520"/>
          </a:xfrm>
          <a:prstGeom prst="roundRect">
            <a:avLst>
              <a:gd name="adj" fmla="val 5217"/>
            </a:avLst>
          </a:prstGeom>
          <a:solidFill>
            <a:schemeClr val="bg2"/>
          </a:solidFill>
          <a:ln w="9525">
            <a:solidFill>
              <a:srgbClr val="3A3426"/>
            </a:solidFill>
            <a:prstDash val="solid"/>
          </a:ln>
        </p:spPr>
      </p:sp>
      <p:sp>
        <p:nvSpPr>
          <p:cNvPr id="15" name="iconbg FaRobot"/>
          <p:cNvSpPr/>
          <p:nvPr/>
        </p:nvSpPr>
        <p:spPr>
          <a:xfrm>
            <a:off x="5303520" y="1920240"/>
            <a:ext cx="731520" cy="731520"/>
          </a:xfrm>
          <a:prstGeom prst="ellipse">
            <a:avLst/>
          </a:prstGeom>
          <a:solidFill>
            <a:schemeClr val="accent1"/>
          </a:solidFill>
          <a:ln w="12700">
            <a:solidFill>
              <a:schemeClr val="accent1"/>
            </a:solidFill>
            <a:prstDash val="solid"/>
          </a:ln>
        </p:spPr>
      </p:sp>
      <p:pic>
        <p:nvPicPr>
          <p:cNvPr id="16" name="Image 2" descr="Robot icon">    </p:cNvPr>
          <p:cNvPicPr>
            <a:picLocks noChangeAspect="1"/>
          </p:cNvPicPr>
          <p:nvPr/>
        </p:nvPicPr>
        <p:blipFill>
          <a:blip r:embed="rId3"/>
          <a:stretch>
            <a:fillRect/>
          </a:stretch>
        </p:blipFill>
        <p:spPr>
          <a:xfrm>
            <a:off x="5464454" y="2081174"/>
            <a:ext cx="409651" cy="409651"/>
          </a:xfrm>
          <a:prstGeom prst="rect">
            <a:avLst/>
          </a:prstGeom>
        </p:spPr>
      </p:pic>
      <p:sp>
        <p:nvSpPr>
          <p:cNvPr id="17" name="Text 11"/>
          <p:cNvSpPr txBox="1"/>
          <p:nvPr/>
        </p:nvSpPr>
        <p:spPr>
          <a:xfrm>
            <a:off x="5303520" y="2880360"/>
            <a:ext cx="173736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AI advisor</a:t>
            </a:r>
            <a:endParaRPr lang="en-US" sz="1800" dirty="0"/>
          </a:p>
        </p:txBody>
      </p:sp>
      <p:sp>
        <p:nvSpPr>
          <p:cNvPr id="18" name="Text 12"/>
          <p:cNvSpPr txBox="1"/>
          <p:nvPr/>
        </p:nvSpPr>
        <p:spPr>
          <a:xfrm>
            <a:off x="5303520" y="3429000"/>
            <a:ext cx="1600200" cy="1097280"/>
          </a:xfrm>
          <a:prstGeom prst="rect">
            <a:avLst/>
          </a:prstGeom>
          <a:noFill/>
          <a:ln/>
        </p:spPr>
        <p:txBody>
          <a:bodyPr wrap="square" lIns="0" tIns="0" rIns="0" bIns="0" rtlCol="0" anchor="t"/>
          <a:lstStyle/>
          <a:p>
            <a:pPr indent="0" marL="0">
              <a:buNone/>
            </a:pPr>
            <a:r>
              <a:rPr lang="en-US" sz="1400" dirty="0">
                <a:solidFill>
                  <a:schemeClr val="tx2"/>
                </a:solidFill>
              </a:rPr>
              <a:t>Prompt-engineered Groq assistant</a:t>
            </a:r>
            <a:endParaRPr lang="en-US" sz="1400" dirty="0"/>
          </a:p>
        </p:txBody>
      </p:sp>
      <p:sp>
        <p:nvSpPr>
          <p:cNvPr id="19" name="capability card 3"/>
          <p:cNvSpPr/>
          <p:nvPr/>
        </p:nvSpPr>
        <p:spPr>
          <a:xfrm>
            <a:off x="7269480" y="1645920"/>
            <a:ext cx="2103120" cy="3017520"/>
          </a:xfrm>
          <a:prstGeom prst="roundRect">
            <a:avLst>
              <a:gd name="adj" fmla="val 5217"/>
            </a:avLst>
          </a:prstGeom>
          <a:solidFill>
            <a:schemeClr val="bg2"/>
          </a:solidFill>
          <a:ln w="9525">
            <a:solidFill>
              <a:srgbClr val="3A3426"/>
            </a:solidFill>
            <a:prstDash val="solid"/>
          </a:ln>
        </p:spPr>
      </p:sp>
      <p:sp>
        <p:nvSpPr>
          <p:cNvPr id="20" name="iconbg FaBookOpen"/>
          <p:cNvSpPr/>
          <p:nvPr/>
        </p:nvSpPr>
        <p:spPr>
          <a:xfrm>
            <a:off x="7543800" y="1920240"/>
            <a:ext cx="731520" cy="731520"/>
          </a:xfrm>
          <a:prstGeom prst="ellipse">
            <a:avLst/>
          </a:prstGeom>
          <a:solidFill>
            <a:schemeClr val="accent1"/>
          </a:solidFill>
          <a:ln w="12700">
            <a:solidFill>
              <a:schemeClr val="accent1"/>
            </a:solidFill>
            <a:prstDash val="solid"/>
          </a:ln>
        </p:spPr>
      </p:sp>
      <p:pic>
        <p:nvPicPr>
          <p:cNvPr id="21" name="Image 3" descr="BookOpen icon">    </p:cNvPr>
          <p:cNvPicPr>
            <a:picLocks noChangeAspect="1"/>
          </p:cNvPicPr>
          <p:nvPr/>
        </p:nvPicPr>
        <p:blipFill>
          <a:blip r:embed="rId4"/>
          <a:stretch>
            <a:fillRect/>
          </a:stretch>
        </p:blipFill>
        <p:spPr>
          <a:xfrm>
            <a:off x="7704734" y="2081174"/>
            <a:ext cx="409651" cy="409651"/>
          </a:xfrm>
          <a:prstGeom prst="rect">
            <a:avLst/>
          </a:prstGeom>
        </p:spPr>
      </p:pic>
      <p:sp>
        <p:nvSpPr>
          <p:cNvPr id="22" name="Text 15"/>
          <p:cNvSpPr txBox="1"/>
          <p:nvPr/>
        </p:nvSpPr>
        <p:spPr>
          <a:xfrm>
            <a:off x="7543800" y="2880360"/>
            <a:ext cx="173736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Document RAG</a:t>
            </a:r>
            <a:endParaRPr lang="en-US" sz="1800" dirty="0"/>
          </a:p>
        </p:txBody>
      </p:sp>
      <p:sp>
        <p:nvSpPr>
          <p:cNvPr id="23" name="Text 16"/>
          <p:cNvSpPr txBox="1"/>
          <p:nvPr/>
        </p:nvSpPr>
        <p:spPr>
          <a:xfrm>
            <a:off x="7543800" y="3429000"/>
            <a:ext cx="1600200" cy="1097280"/>
          </a:xfrm>
          <a:prstGeom prst="rect">
            <a:avLst/>
          </a:prstGeom>
          <a:noFill/>
          <a:ln/>
        </p:spPr>
        <p:txBody>
          <a:bodyPr wrap="square" lIns="0" tIns="0" rIns="0" bIns="0" rtlCol="0" anchor="t"/>
          <a:lstStyle/>
          <a:p>
            <a:pPr indent="0" marL="0">
              <a:buNone/>
            </a:pPr>
            <a:r>
              <a:rPr lang="en-US" sz="1400" dirty="0">
                <a:solidFill>
                  <a:schemeClr val="tx2"/>
                </a:solidFill>
              </a:rPr>
              <a:t>Answers with citations from documents</a:t>
            </a:r>
            <a:endParaRPr lang="en-US" sz="1400" dirty="0"/>
          </a:p>
        </p:txBody>
      </p:sp>
      <p:sp>
        <p:nvSpPr>
          <p:cNvPr id="24" name="capability card 4"/>
          <p:cNvSpPr/>
          <p:nvPr/>
        </p:nvSpPr>
        <p:spPr>
          <a:xfrm>
            <a:off x="9509760" y="1645920"/>
            <a:ext cx="2103120" cy="3017520"/>
          </a:xfrm>
          <a:prstGeom prst="roundRect">
            <a:avLst>
              <a:gd name="adj" fmla="val 5217"/>
            </a:avLst>
          </a:prstGeom>
          <a:solidFill>
            <a:schemeClr val="bg2"/>
          </a:solidFill>
          <a:ln w="9525">
            <a:solidFill>
              <a:srgbClr val="3A3426"/>
            </a:solidFill>
            <a:prstDash val="solid"/>
          </a:ln>
        </p:spPr>
      </p:sp>
      <p:sp>
        <p:nvSpPr>
          <p:cNvPr id="25" name="iconbg FaChartBar"/>
          <p:cNvSpPr/>
          <p:nvPr/>
        </p:nvSpPr>
        <p:spPr>
          <a:xfrm>
            <a:off x="9784080" y="1920240"/>
            <a:ext cx="731520" cy="731520"/>
          </a:xfrm>
          <a:prstGeom prst="ellipse">
            <a:avLst/>
          </a:prstGeom>
          <a:solidFill>
            <a:schemeClr val="accent1"/>
          </a:solidFill>
          <a:ln w="12700">
            <a:solidFill>
              <a:schemeClr val="accent1"/>
            </a:solidFill>
            <a:prstDash val="solid"/>
          </a:ln>
        </p:spPr>
      </p:sp>
      <p:pic>
        <p:nvPicPr>
          <p:cNvPr id="26" name="Image 4" descr="ChartBar icon">    </p:cNvPr>
          <p:cNvPicPr>
            <a:picLocks noChangeAspect="1"/>
          </p:cNvPicPr>
          <p:nvPr/>
        </p:nvPicPr>
        <p:blipFill>
          <a:blip r:embed="rId5"/>
          <a:stretch>
            <a:fillRect/>
          </a:stretch>
        </p:blipFill>
        <p:spPr>
          <a:xfrm>
            <a:off x="9945014" y="2081174"/>
            <a:ext cx="409651" cy="409651"/>
          </a:xfrm>
          <a:prstGeom prst="rect">
            <a:avLst/>
          </a:prstGeom>
        </p:spPr>
      </p:pic>
      <p:sp>
        <p:nvSpPr>
          <p:cNvPr id="27" name="Text 19"/>
          <p:cNvSpPr txBox="1"/>
          <p:nvPr/>
        </p:nvSpPr>
        <p:spPr>
          <a:xfrm>
            <a:off x="9784080" y="2880360"/>
            <a:ext cx="173736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Insights</a:t>
            </a:r>
            <a:endParaRPr lang="en-US" sz="1800" dirty="0"/>
          </a:p>
        </p:txBody>
      </p:sp>
      <p:sp>
        <p:nvSpPr>
          <p:cNvPr id="28" name="Text 20"/>
          <p:cNvSpPr txBox="1"/>
          <p:nvPr/>
        </p:nvSpPr>
        <p:spPr>
          <a:xfrm>
            <a:off x="9784080" y="3429000"/>
            <a:ext cx="1600200" cy="1097280"/>
          </a:xfrm>
          <a:prstGeom prst="rect">
            <a:avLst/>
          </a:prstGeom>
          <a:noFill/>
          <a:ln/>
        </p:spPr>
        <p:txBody>
          <a:bodyPr wrap="square" lIns="0" tIns="0" rIns="0" bIns="0" rtlCol="0" anchor="t"/>
          <a:lstStyle/>
          <a:p>
            <a:pPr indent="0" marL="0">
              <a:buNone/>
            </a:pPr>
            <a:r>
              <a:rPr lang="en-US" sz="1400" dirty="0">
                <a:solidFill>
                  <a:schemeClr val="tx2"/>
                </a:solidFill>
              </a:rPr>
              <a:t>Neighborhood and model analytics</a:t>
            </a:r>
            <a:endParaRPr lang="en-US" sz="1400" dirty="0"/>
          </a:p>
        </p:txBody>
      </p:sp>
      <p:sp>
        <p:nvSpPr>
          <p:cNvPr id="29" name="Text 21"/>
          <p:cNvSpPr txBox="1"/>
          <p:nvPr/>
        </p:nvSpPr>
        <p:spPr>
          <a:xfrm>
            <a:off x="548640" y="5074920"/>
            <a:ext cx="11064240" cy="457200"/>
          </a:xfrm>
          <a:prstGeom prst="rect">
            <a:avLst/>
          </a:prstGeom>
          <a:noFill/>
          <a:ln/>
        </p:spPr>
        <p:txBody>
          <a:bodyPr wrap="square" lIns="0" tIns="0" rIns="0" bIns="0" rtlCol="0" anchor="t"/>
          <a:lstStyle/>
          <a:p>
            <a:pPr indent="0" marL="0">
              <a:buNone/>
            </a:pPr>
            <a:r>
              <a:rPr lang="en-US" sz="1600" dirty="0">
                <a:solidFill>
                  <a:schemeClr val="accent1"/>
                </a:solidFill>
              </a:rPr>
              <a:t>Python · scikit-learn · FastAPI · Groq (Llama 3.3) · TF-IDF RAG · HTML, CSS, JavaScript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A clean architecture: thin API, testable services</a:t>
            </a:r>
            <a:endParaRPr lang="en-US" sz="3400" dirty="0"/>
          </a:p>
        </p:txBody>
      </p:sp>
      <p:sp>
        <p:nvSpPr>
          <p:cNvPr id="4" name="frame System architecture diagram"/>
          <p:cNvSpPr/>
          <p:nvPr/>
        </p:nvSpPr>
        <p:spPr>
          <a:xfrm>
            <a:off x="484632" y="1679096"/>
            <a:ext cx="7534656" cy="3957008"/>
          </a:xfrm>
          <a:prstGeom prst="roundRect">
            <a:avLst>
              <a:gd name="adj" fmla="val 1849"/>
            </a:avLst>
          </a:prstGeom>
          <a:solidFill>
            <a:schemeClr val="bg2"/>
          </a:solidFill>
          <a:ln w="12700">
            <a:solidFill>
              <a:schemeClr val="accent2"/>
            </a:solidFill>
            <a:prstDash val="solid"/>
          </a:ln>
        </p:spPr>
      </p:sp>
      <p:pic>
        <p:nvPicPr>
          <p:cNvPr id="5" name="Image 0" descr="System architecture diagram">    </p:cNvPr>
          <p:cNvPicPr>
            <a:picLocks noChangeAspect="1"/>
          </p:cNvPicPr>
          <p:nvPr/>
        </p:nvPicPr>
        <p:blipFill>
          <a:blip r:embed="rId1"/>
          <a:stretch>
            <a:fillRect/>
          </a:stretch>
        </p:blipFill>
        <p:spPr>
          <a:xfrm>
            <a:off x="548640" y="1743104"/>
            <a:ext cx="7406640" cy="3828992"/>
          </a:xfrm>
          <a:prstGeom prst="rect">
            <a:avLst/>
          </a:prstGeom>
        </p:spPr>
      </p:pic>
      <p:sp>
        <p:nvSpPr>
          <p:cNvPr id="6" name="arch note 0"/>
          <p:cNvSpPr/>
          <p:nvPr/>
        </p:nvSpPr>
        <p:spPr>
          <a:xfrm>
            <a:off x="8321040" y="1600200"/>
            <a:ext cx="3291840" cy="1188720"/>
          </a:xfrm>
          <a:prstGeom prst="roundRect">
            <a:avLst>
              <a:gd name="adj" fmla="val 9231"/>
            </a:avLst>
          </a:prstGeom>
          <a:solidFill>
            <a:schemeClr val="bg2"/>
          </a:solidFill>
          <a:ln w="9525">
            <a:solidFill>
              <a:srgbClr val="3A3426"/>
            </a:solidFill>
            <a:prstDash val="solid"/>
          </a:ln>
        </p:spPr>
      </p:sp>
      <p:sp>
        <p:nvSpPr>
          <p:cNvPr id="7" name="Text 3"/>
          <p:cNvSpPr txBox="1"/>
          <p:nvPr/>
        </p:nvSpPr>
        <p:spPr>
          <a:xfrm>
            <a:off x="8549640" y="1755648"/>
            <a:ext cx="292608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Thin API layer</a:t>
            </a:r>
            <a:endParaRPr lang="en-US" sz="1700" dirty="0"/>
          </a:p>
        </p:txBody>
      </p:sp>
      <p:sp>
        <p:nvSpPr>
          <p:cNvPr id="8" name="Text 4"/>
          <p:cNvSpPr txBox="1"/>
          <p:nvPr/>
        </p:nvSpPr>
        <p:spPr>
          <a:xfrm>
            <a:off x="8549640" y="2167128"/>
            <a:ext cx="2926080" cy="548640"/>
          </a:xfrm>
          <a:prstGeom prst="rect">
            <a:avLst/>
          </a:prstGeom>
          <a:noFill/>
          <a:ln/>
        </p:spPr>
        <p:txBody>
          <a:bodyPr wrap="square" lIns="0" tIns="0" rIns="0" bIns="0" rtlCol="0" anchor="t"/>
          <a:lstStyle/>
          <a:p>
            <a:pPr indent="0" marL="0">
              <a:buNone/>
            </a:pPr>
            <a:r>
              <a:rPr lang="en-US" sz="1400" dirty="0">
                <a:solidFill>
                  <a:schemeClr val="tx2"/>
                </a:solidFill>
              </a:rPr>
              <a:t>FastAPI serves JSON and the seven pages.</a:t>
            </a:r>
            <a:endParaRPr lang="en-US" sz="1400" dirty="0"/>
          </a:p>
        </p:txBody>
      </p:sp>
      <p:sp>
        <p:nvSpPr>
          <p:cNvPr id="9" name="arch note 1"/>
          <p:cNvSpPr/>
          <p:nvPr/>
        </p:nvSpPr>
        <p:spPr>
          <a:xfrm>
            <a:off x="8321040" y="2971800"/>
            <a:ext cx="3291840" cy="1188720"/>
          </a:xfrm>
          <a:prstGeom prst="roundRect">
            <a:avLst>
              <a:gd name="adj" fmla="val 9231"/>
            </a:avLst>
          </a:prstGeom>
          <a:solidFill>
            <a:schemeClr val="bg2"/>
          </a:solidFill>
          <a:ln w="9525">
            <a:solidFill>
              <a:srgbClr val="3A3426"/>
            </a:solidFill>
            <a:prstDash val="solid"/>
          </a:ln>
        </p:spPr>
      </p:sp>
      <p:sp>
        <p:nvSpPr>
          <p:cNvPr id="10" name="Text 6"/>
          <p:cNvSpPr txBox="1"/>
          <p:nvPr/>
        </p:nvSpPr>
        <p:spPr>
          <a:xfrm>
            <a:off x="8549640" y="3127248"/>
            <a:ext cx="292608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Testable services</a:t>
            </a:r>
            <a:endParaRPr lang="en-US" sz="1700" dirty="0"/>
          </a:p>
        </p:txBody>
      </p:sp>
      <p:sp>
        <p:nvSpPr>
          <p:cNvPr id="11" name="Text 7"/>
          <p:cNvSpPr txBox="1"/>
          <p:nvPr/>
        </p:nvSpPr>
        <p:spPr>
          <a:xfrm>
            <a:off x="8549640" y="3538728"/>
            <a:ext cx="2926080" cy="548640"/>
          </a:xfrm>
          <a:prstGeom prst="rect">
            <a:avLst/>
          </a:prstGeom>
          <a:noFill/>
          <a:ln/>
        </p:spPr>
        <p:txBody>
          <a:bodyPr wrap="square" lIns="0" tIns="0" rIns="0" bIns="0" rtlCol="0" anchor="t"/>
          <a:lstStyle/>
          <a:p>
            <a:pPr indent="0" marL="0">
              <a:buNone/>
            </a:pPr>
            <a:r>
              <a:rPr lang="en-US" sz="1400" dirty="0">
                <a:solidFill>
                  <a:schemeClr val="tx2"/>
                </a:solidFill>
              </a:rPr>
              <a:t>Plain Python modules with 10 automated tests.</a:t>
            </a:r>
            <a:endParaRPr lang="en-US" sz="1400" dirty="0"/>
          </a:p>
        </p:txBody>
      </p:sp>
      <p:sp>
        <p:nvSpPr>
          <p:cNvPr id="12" name="arch note 2"/>
          <p:cNvSpPr/>
          <p:nvPr/>
        </p:nvSpPr>
        <p:spPr>
          <a:xfrm>
            <a:off x="8321040" y="4343400"/>
            <a:ext cx="3291840" cy="1188720"/>
          </a:xfrm>
          <a:prstGeom prst="roundRect">
            <a:avLst>
              <a:gd name="adj" fmla="val 9231"/>
            </a:avLst>
          </a:prstGeom>
          <a:solidFill>
            <a:schemeClr val="bg2"/>
          </a:solidFill>
          <a:ln w="9525">
            <a:solidFill>
              <a:srgbClr val="3A3426"/>
            </a:solidFill>
            <a:prstDash val="solid"/>
          </a:ln>
        </p:spPr>
      </p:sp>
      <p:sp>
        <p:nvSpPr>
          <p:cNvPr id="13" name="Text 9"/>
          <p:cNvSpPr txBox="1"/>
          <p:nvPr/>
        </p:nvSpPr>
        <p:spPr>
          <a:xfrm>
            <a:off x="8549640" y="4498848"/>
            <a:ext cx="292608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Graceful AI</a:t>
            </a:r>
            <a:endParaRPr lang="en-US" sz="1700" dirty="0"/>
          </a:p>
        </p:txBody>
      </p:sp>
      <p:sp>
        <p:nvSpPr>
          <p:cNvPr id="14" name="Text 10"/>
          <p:cNvSpPr txBox="1"/>
          <p:nvPr/>
        </p:nvSpPr>
        <p:spPr>
          <a:xfrm>
            <a:off x="8549640" y="4910328"/>
            <a:ext cx="2926080" cy="548640"/>
          </a:xfrm>
          <a:prstGeom prst="rect">
            <a:avLst/>
          </a:prstGeom>
          <a:noFill/>
          <a:ln/>
        </p:spPr>
        <p:txBody>
          <a:bodyPr wrap="square" lIns="0" tIns="0" rIns="0" bIns="0" rtlCol="0" anchor="t"/>
          <a:lstStyle/>
          <a:p>
            <a:pPr indent="0" marL="0">
              <a:buNone/>
            </a:pPr>
            <a:r>
              <a:rPr lang="en-US" sz="1400" dirty="0">
                <a:solidFill>
                  <a:schemeClr val="tx2"/>
                </a:solidFill>
              </a:rPr>
              <a:t>Groq answers, with an offline fallback.</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Data: Ames housing sales, cleaned and understood</a:t>
            </a:r>
            <a:endParaRPr lang="en-US" sz="3400" dirty="0"/>
          </a:p>
        </p:txBody>
      </p:sp>
      <p:sp>
        <p:nvSpPr>
          <p:cNvPr id="4" name="stat cleaned home sales, no missing values"/>
          <p:cNvSpPr/>
          <p:nvPr/>
        </p:nvSpPr>
        <p:spPr>
          <a:xfrm>
            <a:off x="548640" y="1554480"/>
            <a:ext cx="3566160" cy="1554480"/>
          </a:xfrm>
          <a:prstGeom prst="roundRect">
            <a:avLst>
              <a:gd name="adj" fmla="val 7059"/>
            </a:avLst>
          </a:prstGeom>
          <a:solidFill>
            <a:schemeClr val="bg2"/>
          </a:solidFill>
          <a:ln w="9525">
            <a:solidFill>
              <a:srgbClr val="3A3426"/>
            </a:solidFill>
            <a:prstDash val="solid"/>
          </a:ln>
        </p:spPr>
      </p:sp>
      <p:sp>
        <p:nvSpPr>
          <p:cNvPr id="5" name="Text 2"/>
          <p:cNvSpPr txBox="1"/>
          <p:nvPr/>
        </p:nvSpPr>
        <p:spPr>
          <a:xfrm>
            <a:off x="777240" y="1737360"/>
            <a:ext cx="310896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1,458</a:t>
            </a:r>
            <a:endParaRPr lang="en-US" sz="4000" dirty="0"/>
          </a:p>
        </p:txBody>
      </p:sp>
      <p:sp>
        <p:nvSpPr>
          <p:cNvPr id="6" name="Text 3"/>
          <p:cNvSpPr txBox="1"/>
          <p:nvPr/>
        </p:nvSpPr>
        <p:spPr>
          <a:xfrm>
            <a:off x="777240" y="2456078"/>
            <a:ext cx="3108960" cy="559613"/>
          </a:xfrm>
          <a:prstGeom prst="rect">
            <a:avLst/>
          </a:prstGeom>
          <a:noFill/>
          <a:ln/>
        </p:spPr>
        <p:txBody>
          <a:bodyPr wrap="square" lIns="0" tIns="0" rIns="0" bIns="0" rtlCol="0" anchor="t"/>
          <a:lstStyle/>
          <a:p>
            <a:pPr indent="0" marL="0">
              <a:buNone/>
            </a:pPr>
            <a:r>
              <a:rPr lang="en-US" sz="1400" dirty="0">
                <a:solidFill>
                  <a:schemeClr val="tx2"/>
                </a:solidFill>
              </a:rPr>
              <a:t>cleaned home sales, no missing values</a:t>
            </a:r>
            <a:endParaRPr lang="en-US" sz="1400" dirty="0"/>
          </a:p>
        </p:txBody>
      </p:sp>
      <p:sp>
        <p:nvSpPr>
          <p:cNvPr id="7" name="stat Ames neighborhoods"/>
          <p:cNvSpPr/>
          <p:nvPr/>
        </p:nvSpPr>
        <p:spPr>
          <a:xfrm>
            <a:off x="4297680" y="1554480"/>
            <a:ext cx="3566160" cy="1554480"/>
          </a:xfrm>
          <a:prstGeom prst="roundRect">
            <a:avLst>
              <a:gd name="adj" fmla="val 7059"/>
            </a:avLst>
          </a:prstGeom>
          <a:solidFill>
            <a:schemeClr val="bg2"/>
          </a:solidFill>
          <a:ln w="9525">
            <a:solidFill>
              <a:srgbClr val="3A3426"/>
            </a:solidFill>
            <a:prstDash val="solid"/>
          </a:ln>
        </p:spPr>
      </p:sp>
      <p:sp>
        <p:nvSpPr>
          <p:cNvPr id="8" name="Text 5"/>
          <p:cNvSpPr txBox="1"/>
          <p:nvPr/>
        </p:nvSpPr>
        <p:spPr>
          <a:xfrm>
            <a:off x="4526280" y="1737360"/>
            <a:ext cx="310896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25</a:t>
            </a:r>
            <a:endParaRPr lang="en-US" sz="4000" dirty="0"/>
          </a:p>
        </p:txBody>
      </p:sp>
      <p:sp>
        <p:nvSpPr>
          <p:cNvPr id="9" name="Text 6"/>
          <p:cNvSpPr txBox="1"/>
          <p:nvPr/>
        </p:nvSpPr>
        <p:spPr>
          <a:xfrm>
            <a:off x="4526280" y="2456078"/>
            <a:ext cx="3108960" cy="559613"/>
          </a:xfrm>
          <a:prstGeom prst="rect">
            <a:avLst/>
          </a:prstGeom>
          <a:noFill/>
          <a:ln/>
        </p:spPr>
        <p:txBody>
          <a:bodyPr wrap="square" lIns="0" tIns="0" rIns="0" bIns="0" rtlCol="0" anchor="t"/>
          <a:lstStyle/>
          <a:p>
            <a:pPr indent="0" marL="0">
              <a:buNone/>
            </a:pPr>
            <a:r>
              <a:rPr lang="en-US" sz="1400" dirty="0">
                <a:solidFill>
                  <a:schemeClr val="tx2"/>
                </a:solidFill>
              </a:rPr>
              <a:t>Ames neighborhoods</a:t>
            </a:r>
            <a:endParaRPr lang="en-US" sz="1400" dirty="0"/>
          </a:p>
        </p:txBody>
      </p:sp>
      <p:sp>
        <p:nvSpPr>
          <p:cNvPr id="10" name="stat features in the data vs. model inputs"/>
          <p:cNvSpPr/>
          <p:nvPr/>
        </p:nvSpPr>
        <p:spPr>
          <a:xfrm>
            <a:off x="8046720" y="1554480"/>
            <a:ext cx="3566160" cy="1554480"/>
          </a:xfrm>
          <a:prstGeom prst="roundRect">
            <a:avLst>
              <a:gd name="adj" fmla="val 7059"/>
            </a:avLst>
          </a:prstGeom>
          <a:solidFill>
            <a:schemeClr val="bg2"/>
          </a:solidFill>
          <a:ln w="9525">
            <a:solidFill>
              <a:srgbClr val="3A3426"/>
            </a:solidFill>
            <a:prstDash val="solid"/>
          </a:ln>
        </p:spPr>
      </p:sp>
      <p:sp>
        <p:nvSpPr>
          <p:cNvPr id="11" name="Text 8"/>
          <p:cNvSpPr txBox="1"/>
          <p:nvPr/>
        </p:nvSpPr>
        <p:spPr>
          <a:xfrm>
            <a:off x="8275320" y="1737360"/>
            <a:ext cx="310896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79 → 9</a:t>
            </a:r>
            <a:endParaRPr lang="en-US" sz="4000" dirty="0"/>
          </a:p>
        </p:txBody>
      </p:sp>
      <p:sp>
        <p:nvSpPr>
          <p:cNvPr id="12" name="Text 9"/>
          <p:cNvSpPr txBox="1"/>
          <p:nvPr/>
        </p:nvSpPr>
        <p:spPr>
          <a:xfrm>
            <a:off x="8275320" y="2456078"/>
            <a:ext cx="3108960" cy="559613"/>
          </a:xfrm>
          <a:prstGeom prst="rect">
            <a:avLst/>
          </a:prstGeom>
          <a:noFill/>
          <a:ln/>
        </p:spPr>
        <p:txBody>
          <a:bodyPr wrap="square" lIns="0" tIns="0" rIns="0" bIns="0" rtlCol="0" anchor="t"/>
          <a:lstStyle/>
          <a:p>
            <a:pPr indent="0" marL="0">
              <a:buNone/>
            </a:pPr>
            <a:r>
              <a:rPr lang="en-US" sz="1400" dirty="0">
                <a:solidFill>
                  <a:schemeClr val="tx2"/>
                </a:solidFill>
              </a:rPr>
              <a:t>features in the data vs. model inputs</a:t>
            </a:r>
            <a:endParaRPr lang="en-US" sz="1400" dirty="0"/>
          </a:p>
        </p:txBody>
      </p:sp>
      <p:sp>
        <p:nvSpPr>
          <p:cNvPr id="13" name="cleaning card"/>
          <p:cNvSpPr/>
          <p:nvPr/>
        </p:nvSpPr>
        <p:spPr>
          <a:xfrm>
            <a:off x="548640" y="3383280"/>
            <a:ext cx="11064240" cy="2560320"/>
          </a:xfrm>
          <a:prstGeom prst="roundRect">
            <a:avLst>
              <a:gd name="adj" fmla="val 4286"/>
            </a:avLst>
          </a:prstGeom>
          <a:solidFill>
            <a:schemeClr val="bg2"/>
          </a:solidFill>
          <a:ln w="9525">
            <a:solidFill>
              <a:srgbClr val="3A3426"/>
            </a:solidFill>
            <a:prstDash val="solid"/>
          </a:ln>
        </p:spPr>
      </p:sp>
      <p:sp>
        <p:nvSpPr>
          <p:cNvPr id="14" name="Text 11"/>
          <p:cNvSpPr txBox="1"/>
          <p:nvPr/>
        </p:nvSpPr>
        <p:spPr>
          <a:xfrm>
            <a:off x="822960" y="3566160"/>
            <a:ext cx="54864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Cleaning highlights</a:t>
            </a:r>
            <a:endParaRPr lang="en-US" sz="1800" dirty="0"/>
          </a:p>
        </p:txBody>
      </p:sp>
      <p:sp>
        <p:nvSpPr>
          <p:cNvPr id="15" name="Text 12"/>
          <p:cNvSpPr txBox="1"/>
          <p:nvPr/>
        </p:nvSpPr>
        <p:spPr>
          <a:xfrm>
            <a:off x="822960" y="4023360"/>
            <a:ext cx="1051560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NA often means the feature is absent, so it became its own category</a:t>
            </a:r>
            <a:endParaRPr lang="en-US" sz="1600" dirty="0"/>
          </a:p>
          <a:p>
            <a:pPr marL="342900" indent="-342900">
              <a:spcAft>
                <a:spcPts val="800"/>
              </a:spcAft>
              <a:buSzPct val="100000"/>
              <a:buChar char="•"/>
            </a:pPr>
            <a:r>
              <a:rPr lang="en-US" sz="1600" dirty="0">
                <a:solidFill>
                  <a:schemeClr val="tx1"/>
                </a:solidFill>
              </a:rPr>
              <a:t>Lot frontage filled from the neighborhood median</a:t>
            </a:r>
            <a:endParaRPr lang="en-US" sz="1600" dirty="0"/>
          </a:p>
          <a:p>
            <a:pPr marL="342900" indent="-342900">
              <a:spcAft>
                <a:spcPts val="800"/>
              </a:spcAft>
              <a:buSzPct val="100000"/>
              <a:buChar char="•"/>
            </a:pPr>
            <a:r>
              <a:rPr lang="en-US" sz="1600" dirty="0">
                <a:solidFill>
                  <a:schemeClr val="tx1"/>
                </a:solidFill>
              </a:rPr>
              <a:t>Two known outliers removed (huge area, very low price)</a:t>
            </a:r>
            <a:endParaRPr lang="en-US" sz="1600" dirty="0"/>
          </a:p>
          <a:p>
            <a:pPr marL="342900" indent="-342900">
              <a:spcAft>
                <a:spcPts val="800"/>
              </a:spcAft>
              <a:buSzPct val="100000"/>
              <a:buChar char="•"/>
            </a:pPr>
            <a:r>
              <a:rPr lang="en-US" sz="1600" dirty="0">
                <a:solidFill>
                  <a:schemeClr val="tx1"/>
                </a:solidFill>
              </a:rPr>
              <a:t>New features: TotalSF, HouseAge and PricePerSqft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Location and quality drive the price</a:t>
            </a:r>
            <a:endParaRPr lang="en-US" sz="3400" dirty="0"/>
          </a:p>
        </p:txBody>
      </p:sp>
      <p:sp>
        <p:nvSpPr>
          <p:cNvPr id="4" name="frame Median price by neighborhood chart"/>
          <p:cNvSpPr/>
          <p:nvPr/>
        </p:nvSpPr>
        <p:spPr>
          <a:xfrm>
            <a:off x="484632" y="2039112"/>
            <a:ext cx="6894576" cy="3511296"/>
          </a:xfrm>
          <a:prstGeom prst="roundRect">
            <a:avLst>
              <a:gd name="adj" fmla="val 2083"/>
            </a:avLst>
          </a:prstGeom>
          <a:solidFill>
            <a:schemeClr val="bg2"/>
          </a:solidFill>
          <a:ln w="12700">
            <a:solidFill>
              <a:schemeClr val="accent2"/>
            </a:solidFill>
            <a:prstDash val="solid"/>
          </a:ln>
        </p:spPr>
      </p:sp>
      <p:pic>
        <p:nvPicPr>
          <p:cNvPr id="5" name="Image 0" descr="Median price by neighborhood chart">    </p:cNvPr>
          <p:cNvPicPr>
            <a:picLocks noChangeAspect="1"/>
          </p:cNvPicPr>
          <p:nvPr/>
        </p:nvPicPr>
        <p:blipFill>
          <a:blip r:embed="rId1"/>
          <a:stretch>
            <a:fillRect/>
          </a:stretch>
        </p:blipFill>
        <p:spPr>
          <a:xfrm>
            <a:off x="548640" y="2103120"/>
            <a:ext cx="6766560" cy="3383280"/>
          </a:xfrm>
          <a:prstGeom prst="rect">
            <a:avLst/>
          </a:prstGeom>
        </p:spPr>
      </p:pic>
      <p:sp>
        <p:nvSpPr>
          <p:cNvPr id="6" name="stat median price gap: NridgHt vs. MeadowV"/>
          <p:cNvSpPr/>
          <p:nvPr/>
        </p:nvSpPr>
        <p:spPr>
          <a:xfrm>
            <a:off x="7680960" y="1600200"/>
            <a:ext cx="3931920" cy="1371600"/>
          </a:xfrm>
          <a:prstGeom prst="roundRect">
            <a:avLst>
              <a:gd name="adj" fmla="val 8000"/>
            </a:avLst>
          </a:prstGeom>
          <a:solidFill>
            <a:schemeClr val="bg2"/>
          </a:solidFill>
          <a:ln w="9525">
            <a:solidFill>
              <a:srgbClr val="3A3426"/>
            </a:solidFill>
            <a:prstDash val="solid"/>
          </a:ln>
        </p:spPr>
      </p:sp>
      <p:sp>
        <p:nvSpPr>
          <p:cNvPr id="7" name="Text 3"/>
          <p:cNvSpPr txBox="1"/>
          <p:nvPr/>
        </p:nvSpPr>
        <p:spPr>
          <a:xfrm>
            <a:off x="7909560" y="1783080"/>
            <a:ext cx="347472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3.6×</a:t>
            </a:r>
            <a:endParaRPr lang="en-US" sz="3800" dirty="0"/>
          </a:p>
        </p:txBody>
      </p:sp>
      <p:sp>
        <p:nvSpPr>
          <p:cNvPr id="8" name="Text 4"/>
          <p:cNvSpPr txBox="1"/>
          <p:nvPr/>
        </p:nvSpPr>
        <p:spPr>
          <a:xfrm>
            <a:off x="7909560" y="2395728"/>
            <a:ext cx="3474720" cy="493776"/>
          </a:xfrm>
          <a:prstGeom prst="rect">
            <a:avLst/>
          </a:prstGeom>
          <a:noFill/>
          <a:ln/>
        </p:spPr>
        <p:txBody>
          <a:bodyPr wrap="square" lIns="0" tIns="0" rIns="0" bIns="0" rtlCol="0" anchor="t"/>
          <a:lstStyle/>
          <a:p>
            <a:pPr indent="0" marL="0">
              <a:buNone/>
            </a:pPr>
            <a:r>
              <a:rPr lang="en-US" sz="1400" dirty="0">
                <a:solidFill>
                  <a:schemeClr val="tx2"/>
                </a:solidFill>
              </a:rPr>
              <a:t>median price gap: NridgHt vs. MeadowV</a:t>
            </a:r>
            <a:endParaRPr lang="en-US" sz="1400" dirty="0"/>
          </a:p>
        </p:txBody>
      </p:sp>
      <p:sp>
        <p:nvSpPr>
          <p:cNvPr id="9" name="stat correlation of quality with price"/>
          <p:cNvSpPr/>
          <p:nvPr/>
        </p:nvSpPr>
        <p:spPr>
          <a:xfrm>
            <a:off x="7680960" y="3154680"/>
            <a:ext cx="3931920" cy="1371600"/>
          </a:xfrm>
          <a:prstGeom prst="roundRect">
            <a:avLst>
              <a:gd name="adj" fmla="val 8000"/>
            </a:avLst>
          </a:prstGeom>
          <a:solidFill>
            <a:schemeClr val="bg2"/>
          </a:solidFill>
          <a:ln w="9525">
            <a:solidFill>
              <a:srgbClr val="3A3426"/>
            </a:solidFill>
            <a:prstDash val="solid"/>
          </a:ln>
        </p:spPr>
      </p:sp>
      <p:sp>
        <p:nvSpPr>
          <p:cNvPr id="10" name="Text 6"/>
          <p:cNvSpPr txBox="1"/>
          <p:nvPr/>
        </p:nvSpPr>
        <p:spPr>
          <a:xfrm>
            <a:off x="7909560" y="3337560"/>
            <a:ext cx="347472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0.80</a:t>
            </a:r>
            <a:endParaRPr lang="en-US" sz="3800" dirty="0"/>
          </a:p>
        </p:txBody>
      </p:sp>
      <p:sp>
        <p:nvSpPr>
          <p:cNvPr id="11" name="Text 7"/>
          <p:cNvSpPr txBox="1"/>
          <p:nvPr/>
        </p:nvSpPr>
        <p:spPr>
          <a:xfrm>
            <a:off x="7909560" y="3950208"/>
            <a:ext cx="3474720" cy="493776"/>
          </a:xfrm>
          <a:prstGeom prst="rect">
            <a:avLst/>
          </a:prstGeom>
          <a:noFill/>
          <a:ln/>
        </p:spPr>
        <p:txBody>
          <a:bodyPr wrap="square" lIns="0" tIns="0" rIns="0" bIns="0" rtlCol="0" anchor="t"/>
          <a:lstStyle/>
          <a:p>
            <a:pPr indent="0" marL="0">
              <a:buNone/>
            </a:pPr>
            <a:r>
              <a:rPr lang="en-US" sz="1400" dirty="0">
                <a:solidFill>
                  <a:schemeClr val="tx2"/>
                </a:solidFill>
              </a:rPr>
              <a:t>correlation of quality with price</a:t>
            </a:r>
            <a:endParaRPr lang="en-US" sz="1400" dirty="0"/>
          </a:p>
        </p:txBody>
      </p:sp>
      <p:sp>
        <p:nvSpPr>
          <p:cNvPr id="12" name="stat price skewness before and after log"/>
          <p:cNvSpPr/>
          <p:nvPr/>
        </p:nvSpPr>
        <p:spPr>
          <a:xfrm>
            <a:off x="7680960" y="4709160"/>
            <a:ext cx="3931920" cy="1371600"/>
          </a:xfrm>
          <a:prstGeom prst="roundRect">
            <a:avLst>
              <a:gd name="adj" fmla="val 8000"/>
            </a:avLst>
          </a:prstGeom>
          <a:solidFill>
            <a:schemeClr val="bg2"/>
          </a:solidFill>
          <a:ln w="9525">
            <a:solidFill>
              <a:srgbClr val="3A3426"/>
            </a:solidFill>
            <a:prstDash val="solid"/>
          </a:ln>
        </p:spPr>
      </p:sp>
      <p:sp>
        <p:nvSpPr>
          <p:cNvPr id="13" name="Text 9"/>
          <p:cNvSpPr txBox="1"/>
          <p:nvPr/>
        </p:nvSpPr>
        <p:spPr>
          <a:xfrm>
            <a:off x="7909560" y="4892040"/>
            <a:ext cx="347472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1.88 → 0.12</a:t>
            </a:r>
            <a:endParaRPr lang="en-US" sz="3200" dirty="0"/>
          </a:p>
        </p:txBody>
      </p:sp>
      <p:sp>
        <p:nvSpPr>
          <p:cNvPr id="14" name="Text 10"/>
          <p:cNvSpPr txBox="1"/>
          <p:nvPr/>
        </p:nvSpPr>
        <p:spPr>
          <a:xfrm>
            <a:off x="7909560" y="5504688"/>
            <a:ext cx="3474720" cy="493776"/>
          </a:xfrm>
          <a:prstGeom prst="rect">
            <a:avLst/>
          </a:prstGeom>
          <a:noFill/>
          <a:ln/>
        </p:spPr>
        <p:txBody>
          <a:bodyPr wrap="square" lIns="0" tIns="0" rIns="0" bIns="0" rtlCol="0" anchor="t"/>
          <a:lstStyle/>
          <a:p>
            <a:pPr indent="0" marL="0">
              <a:buNone/>
            </a:pPr>
            <a:r>
              <a:rPr lang="en-US" sz="1400" dirty="0">
                <a:solidFill>
                  <a:schemeClr val="tx2"/>
                </a:solidFill>
              </a:rPr>
              <a:t>price skewness before and after log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Overall quality is the strongest signal</a:t>
            </a:r>
            <a:endParaRPr lang="en-US" sz="3400" dirty="0"/>
          </a:p>
        </p:txBody>
      </p:sp>
      <p:sp>
        <p:nvSpPr>
          <p:cNvPr id="4" name="frame Feature importance chart"/>
          <p:cNvSpPr/>
          <p:nvPr/>
        </p:nvSpPr>
        <p:spPr>
          <a:xfrm>
            <a:off x="484632" y="1730502"/>
            <a:ext cx="6528816" cy="4128516"/>
          </a:xfrm>
          <a:prstGeom prst="roundRect">
            <a:avLst>
              <a:gd name="adj" fmla="val 1772"/>
            </a:avLst>
          </a:prstGeom>
          <a:solidFill>
            <a:schemeClr val="bg2"/>
          </a:solidFill>
          <a:ln w="12700">
            <a:solidFill>
              <a:schemeClr val="accent2"/>
            </a:solidFill>
            <a:prstDash val="solid"/>
          </a:ln>
        </p:spPr>
      </p:sp>
      <p:pic>
        <p:nvPicPr>
          <p:cNvPr id="5" name="Image 0" descr="Feature importance chart">    </p:cNvPr>
          <p:cNvPicPr>
            <a:picLocks noChangeAspect="1"/>
          </p:cNvPicPr>
          <p:nvPr/>
        </p:nvPicPr>
        <p:blipFill>
          <a:blip r:embed="rId1"/>
          <a:stretch>
            <a:fillRect/>
          </a:stretch>
        </p:blipFill>
        <p:spPr>
          <a:xfrm>
            <a:off x="548640" y="1794510"/>
            <a:ext cx="6400800" cy="4000500"/>
          </a:xfrm>
          <a:prstGeom prst="rect">
            <a:avLst/>
          </a:prstGeom>
        </p:spPr>
      </p:pic>
      <p:sp>
        <p:nvSpPr>
          <p:cNvPr id="6" name="importance card"/>
          <p:cNvSpPr/>
          <p:nvPr/>
        </p:nvSpPr>
        <p:spPr>
          <a:xfrm>
            <a:off x="7315200" y="1600200"/>
            <a:ext cx="4297680" cy="4434840"/>
          </a:xfrm>
          <a:prstGeom prst="roundRect">
            <a:avLst>
              <a:gd name="adj" fmla="val 2553"/>
            </a:avLst>
          </a:prstGeom>
          <a:solidFill>
            <a:schemeClr val="bg2"/>
          </a:solidFill>
          <a:ln w="9525">
            <a:solidFill>
              <a:srgbClr val="3A3426"/>
            </a:solidFill>
            <a:prstDash val="solid"/>
          </a:ln>
        </p:spPr>
      </p:sp>
      <p:sp>
        <p:nvSpPr>
          <p:cNvPr id="7" name="Text 3"/>
          <p:cNvSpPr txBox="1"/>
          <p:nvPr/>
        </p:nvSpPr>
        <p:spPr>
          <a:xfrm>
            <a:off x="7589520" y="1783080"/>
            <a:ext cx="374904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54%</a:t>
            </a:r>
            <a:endParaRPr lang="en-US" sz="6000" dirty="0"/>
          </a:p>
        </p:txBody>
      </p:sp>
      <p:sp>
        <p:nvSpPr>
          <p:cNvPr id="8" name="Text 4"/>
          <p:cNvSpPr txBox="1"/>
          <p:nvPr/>
        </p:nvSpPr>
        <p:spPr>
          <a:xfrm>
            <a:off x="7589520" y="2834640"/>
            <a:ext cx="3749040" cy="640080"/>
          </a:xfrm>
          <a:prstGeom prst="rect">
            <a:avLst/>
          </a:prstGeom>
          <a:noFill/>
          <a:ln/>
        </p:spPr>
        <p:txBody>
          <a:bodyPr wrap="square" lIns="0" tIns="0" rIns="0" bIns="0" rtlCol="0" anchor="t"/>
          <a:lstStyle/>
          <a:p>
            <a:pPr indent="0" marL="0">
              <a:buNone/>
            </a:pPr>
            <a:r>
              <a:rPr lang="en-US" sz="1600" dirty="0">
                <a:solidFill>
                  <a:schemeClr val="tx2"/>
                </a:solidFill>
              </a:rPr>
              <a:t>of the model's importance is overall quality</a:t>
            </a:r>
            <a:endParaRPr lang="en-US" sz="1600" dirty="0"/>
          </a:p>
        </p:txBody>
      </p:sp>
      <p:sp>
        <p:nvSpPr>
          <p:cNvPr id="9" name="Text 5"/>
          <p:cNvSpPr txBox="1"/>
          <p:nvPr/>
        </p:nvSpPr>
        <p:spPr>
          <a:xfrm>
            <a:off x="7589520" y="3657600"/>
            <a:ext cx="3749040" cy="2011680"/>
          </a:xfrm>
          <a:prstGeom prst="rect">
            <a:avLst/>
          </a:prstGeom>
          <a:noFill/>
          <a:ln/>
        </p:spPr>
        <p:txBody>
          <a:bodyPr wrap="square" lIns="0" tIns="0" rIns="0" bIns="0" rtlCol="0" anchor="t"/>
          <a:lstStyle/>
          <a:p>
            <a:pPr indent="0" marL="0">
              <a:spcAft>
                <a:spcPts val="1000"/>
              </a:spcAft>
              <a:buNone/>
            </a:pPr>
            <a:r>
              <a:rPr lang="en-US" sz="1800" dirty="0">
                <a:solidFill>
                  <a:schemeClr val="tx1"/>
                </a:solidFill>
              </a:rPr>
              <a:t>Living area  15%</a:t>
            </a:r>
            <a:endParaRPr lang="en-US" sz="1800" dirty="0"/>
          </a:p>
          <a:p>
            <a:pPr indent="0" marL="0">
              <a:spcAft>
                <a:spcPts val="1000"/>
              </a:spcAft>
              <a:buNone/>
            </a:pPr>
            <a:r>
              <a:rPr lang="en-US" sz="1800" dirty="0">
                <a:solidFill>
                  <a:schemeClr val="tx1"/>
                </a:solidFill>
              </a:rPr>
              <a:t>Neighborhood  10%</a:t>
            </a:r>
            <a:endParaRPr lang="en-US" sz="1800" dirty="0"/>
          </a:p>
          <a:p>
            <a:pPr indent="0" marL="0">
              <a:spcAft>
                <a:spcPts val="1000"/>
              </a:spcAft>
              <a:buNone/>
            </a:pPr>
            <a:r>
              <a:rPr lang="en-US" sz="1800" dirty="0">
                <a:solidFill>
                  <a:schemeClr val="tx1"/>
                </a:solidFill>
              </a:rPr>
              <a:t>Basement size  8.5%</a:t>
            </a:r>
            <a:endParaRPr lang="en-US" sz="1800" dirty="0"/>
          </a:p>
          <a:p>
            <a:pPr indent="0" marL="0">
              <a:spcAft>
                <a:spcPts val="1000"/>
              </a:spcAft>
              <a:buNone/>
            </a:pPr>
            <a:r>
              <a:rPr lang="en-US" sz="1800" dirty="0">
                <a:solidFill>
                  <a:schemeClr val="tx1"/>
                </a:solidFill>
              </a:rPr>
              <a:t>Garage capacity  4.8%</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Three models compared, Random Forest deployed</a:t>
            </a:r>
            <a:endParaRPr lang="en-US" sz="3400" dirty="0"/>
          </a:p>
        </p:txBody>
      </p:sp>
      <p:graphicFrame>
        <p:nvGraphicFramePr>
          <p:cNvPr id="4" name="Chart 0" descr=""/>
          <p:cNvGraphicFramePr/>
          <p:nvPr/>
        </p:nvGraphicFramePr>
        <p:xfrm>
          <a:off x="548640" y="150876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tat R² of the deployed Random Forest"/>
          <p:cNvSpPr/>
          <p:nvPr/>
        </p:nvSpPr>
        <p:spPr>
          <a:xfrm>
            <a:off x="7680960" y="1600200"/>
            <a:ext cx="3931920" cy="1371600"/>
          </a:xfrm>
          <a:prstGeom prst="roundRect">
            <a:avLst>
              <a:gd name="adj" fmla="val 8000"/>
            </a:avLst>
          </a:prstGeom>
          <a:solidFill>
            <a:schemeClr val="bg2"/>
          </a:solidFill>
          <a:ln w="9525">
            <a:solidFill>
              <a:srgbClr val="3A3426"/>
            </a:solidFill>
            <a:prstDash val="solid"/>
          </a:ln>
        </p:spPr>
      </p:sp>
      <p:sp>
        <p:nvSpPr>
          <p:cNvPr id="6" name="Text 2"/>
          <p:cNvSpPr txBox="1"/>
          <p:nvPr/>
        </p:nvSpPr>
        <p:spPr>
          <a:xfrm>
            <a:off x="7909560" y="1783080"/>
            <a:ext cx="347472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0.885</a:t>
            </a:r>
            <a:endParaRPr lang="en-US" sz="4000" dirty="0"/>
          </a:p>
        </p:txBody>
      </p:sp>
      <p:sp>
        <p:nvSpPr>
          <p:cNvPr id="7" name="Text 3"/>
          <p:cNvSpPr txBox="1"/>
          <p:nvPr/>
        </p:nvSpPr>
        <p:spPr>
          <a:xfrm>
            <a:off x="7909560" y="2395728"/>
            <a:ext cx="3474720" cy="493776"/>
          </a:xfrm>
          <a:prstGeom prst="rect">
            <a:avLst/>
          </a:prstGeom>
          <a:noFill/>
          <a:ln/>
        </p:spPr>
        <p:txBody>
          <a:bodyPr wrap="square" lIns="0" tIns="0" rIns="0" bIns="0" rtlCol="0" anchor="t"/>
          <a:lstStyle/>
          <a:p>
            <a:pPr indent="0" marL="0">
              <a:buNone/>
            </a:pPr>
            <a:r>
              <a:rPr lang="en-US" sz="1400" dirty="0">
                <a:solidFill>
                  <a:schemeClr val="tx2"/>
                </a:solidFill>
              </a:rPr>
              <a:t>R² of the deployed Random Forest</a:t>
            </a:r>
            <a:endParaRPr lang="en-US" sz="1400" dirty="0"/>
          </a:p>
        </p:txBody>
      </p:sp>
      <p:sp>
        <p:nvSpPr>
          <p:cNvPr id="8" name="stat R² of Linear Regression, close behind"/>
          <p:cNvSpPr/>
          <p:nvPr/>
        </p:nvSpPr>
        <p:spPr>
          <a:xfrm>
            <a:off x="7680960" y="3154680"/>
            <a:ext cx="3931920" cy="1371600"/>
          </a:xfrm>
          <a:prstGeom prst="roundRect">
            <a:avLst>
              <a:gd name="adj" fmla="val 8000"/>
            </a:avLst>
          </a:prstGeom>
          <a:solidFill>
            <a:schemeClr val="bg2"/>
          </a:solidFill>
          <a:ln w="9525">
            <a:solidFill>
              <a:srgbClr val="3A3426"/>
            </a:solidFill>
            <a:prstDash val="solid"/>
          </a:ln>
        </p:spPr>
      </p:sp>
      <p:sp>
        <p:nvSpPr>
          <p:cNvPr id="9" name="Text 5"/>
          <p:cNvSpPr txBox="1"/>
          <p:nvPr/>
        </p:nvSpPr>
        <p:spPr>
          <a:xfrm>
            <a:off x="7909560" y="3337560"/>
            <a:ext cx="3474720" cy="68580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0.876</a:t>
            </a:r>
            <a:endParaRPr lang="en-US" sz="4000" dirty="0"/>
          </a:p>
        </p:txBody>
      </p:sp>
      <p:sp>
        <p:nvSpPr>
          <p:cNvPr id="10" name="Text 6"/>
          <p:cNvSpPr txBox="1"/>
          <p:nvPr/>
        </p:nvSpPr>
        <p:spPr>
          <a:xfrm>
            <a:off x="7909560" y="3950208"/>
            <a:ext cx="3474720" cy="493776"/>
          </a:xfrm>
          <a:prstGeom prst="rect">
            <a:avLst/>
          </a:prstGeom>
          <a:noFill/>
          <a:ln/>
        </p:spPr>
        <p:txBody>
          <a:bodyPr wrap="square" lIns="0" tIns="0" rIns="0" bIns="0" rtlCol="0" anchor="t"/>
          <a:lstStyle/>
          <a:p>
            <a:pPr indent="0" marL="0">
              <a:buNone/>
            </a:pPr>
            <a:r>
              <a:rPr lang="en-US" sz="1400" dirty="0">
                <a:solidFill>
                  <a:schemeClr val="tx2"/>
                </a:solidFill>
              </a:rPr>
              <a:t>R² of Linear Regression, close behind</a:t>
            </a:r>
            <a:endParaRPr lang="en-US" sz="1400" dirty="0"/>
          </a:p>
        </p:txBody>
      </p:sp>
      <p:sp>
        <p:nvSpPr>
          <p:cNvPr id="11" name="stat R² of the single Decision Tree"/>
          <p:cNvSpPr/>
          <p:nvPr/>
        </p:nvSpPr>
        <p:spPr>
          <a:xfrm>
            <a:off x="7680960" y="4709160"/>
            <a:ext cx="3931920" cy="1371600"/>
          </a:xfrm>
          <a:prstGeom prst="roundRect">
            <a:avLst>
              <a:gd name="adj" fmla="val 8000"/>
            </a:avLst>
          </a:prstGeom>
          <a:solidFill>
            <a:schemeClr val="bg2"/>
          </a:solidFill>
          <a:ln w="9525">
            <a:solidFill>
              <a:srgbClr val="3A3426"/>
            </a:solidFill>
            <a:prstDash val="solid"/>
          </a:ln>
        </p:spPr>
      </p:sp>
      <p:sp>
        <p:nvSpPr>
          <p:cNvPr id="12" name="Text 8"/>
          <p:cNvSpPr txBox="1"/>
          <p:nvPr/>
        </p:nvSpPr>
        <p:spPr>
          <a:xfrm>
            <a:off x="7909560" y="4892040"/>
            <a:ext cx="3474720" cy="68580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0.840</a:t>
            </a:r>
            <a:endParaRPr lang="en-US" sz="4000" dirty="0"/>
          </a:p>
        </p:txBody>
      </p:sp>
      <p:sp>
        <p:nvSpPr>
          <p:cNvPr id="13" name="Text 9"/>
          <p:cNvSpPr txBox="1"/>
          <p:nvPr/>
        </p:nvSpPr>
        <p:spPr>
          <a:xfrm>
            <a:off x="7909560" y="5504688"/>
            <a:ext cx="3474720" cy="493776"/>
          </a:xfrm>
          <a:prstGeom prst="rect">
            <a:avLst/>
          </a:prstGeom>
          <a:noFill/>
          <a:ln/>
        </p:spPr>
        <p:txBody>
          <a:bodyPr wrap="square" lIns="0" tIns="0" rIns="0" bIns="0" rtlCol="0" anchor="t"/>
          <a:lstStyle/>
          <a:p>
            <a:pPr indent="0" marL="0">
              <a:buNone/>
            </a:pPr>
            <a:r>
              <a:rPr lang="en-US" sz="1400" dirty="0">
                <a:solidFill>
                  <a:schemeClr val="tx2"/>
                </a:solidFill>
              </a:rPr>
              <a:t>R² of the single Decision Tree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How close are the predictions?</a:t>
            </a:r>
            <a:endParaRPr lang="en-US" sz="3400" dirty="0"/>
          </a:p>
        </p:txBody>
      </p:sp>
      <p:sp>
        <p:nvSpPr>
          <p:cNvPr id="4" name="frame Predicted versus actual price chart"/>
          <p:cNvSpPr/>
          <p:nvPr/>
        </p:nvSpPr>
        <p:spPr>
          <a:xfrm>
            <a:off x="576072" y="1444752"/>
            <a:ext cx="4700016" cy="4700016"/>
          </a:xfrm>
          <a:prstGeom prst="roundRect">
            <a:avLst>
              <a:gd name="adj" fmla="val 1556"/>
            </a:avLst>
          </a:prstGeom>
          <a:solidFill>
            <a:schemeClr val="bg2"/>
          </a:solidFill>
          <a:ln w="12700">
            <a:solidFill>
              <a:schemeClr val="accent2"/>
            </a:solidFill>
            <a:prstDash val="solid"/>
          </a:ln>
        </p:spPr>
      </p:sp>
      <p:pic>
        <p:nvPicPr>
          <p:cNvPr id="5" name="Image 0" descr="Predicted versus actual price chart">    </p:cNvPr>
          <p:cNvPicPr>
            <a:picLocks noChangeAspect="1"/>
          </p:cNvPicPr>
          <p:nvPr/>
        </p:nvPicPr>
        <p:blipFill>
          <a:blip r:embed="rId1"/>
          <a:stretch>
            <a:fillRect/>
          </a:stretch>
        </p:blipFill>
        <p:spPr>
          <a:xfrm>
            <a:off x="640080" y="1508760"/>
            <a:ext cx="4572000" cy="4572000"/>
          </a:xfrm>
          <a:prstGeom prst="rect">
            <a:avLst/>
          </a:prstGeom>
        </p:spPr>
      </p:pic>
      <p:sp>
        <p:nvSpPr>
          <p:cNvPr id="6" name="stat of test homes within 10% of the real price"/>
          <p:cNvSpPr/>
          <p:nvPr/>
        </p:nvSpPr>
        <p:spPr>
          <a:xfrm>
            <a:off x="5760720" y="1600200"/>
            <a:ext cx="2834640" cy="2011680"/>
          </a:xfrm>
          <a:prstGeom prst="roundRect">
            <a:avLst>
              <a:gd name="adj" fmla="val 5455"/>
            </a:avLst>
          </a:prstGeom>
          <a:solidFill>
            <a:schemeClr val="bg2"/>
          </a:solidFill>
          <a:ln w="9525">
            <a:solidFill>
              <a:srgbClr val="3A3426"/>
            </a:solidFill>
            <a:prstDash val="solid"/>
          </a:ln>
        </p:spPr>
      </p:sp>
      <p:sp>
        <p:nvSpPr>
          <p:cNvPr id="7" name="Text 3"/>
          <p:cNvSpPr txBox="1"/>
          <p:nvPr/>
        </p:nvSpPr>
        <p:spPr>
          <a:xfrm>
            <a:off x="5989320" y="1783080"/>
            <a:ext cx="237744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63%</a:t>
            </a:r>
            <a:endParaRPr lang="en-US" sz="4400" dirty="0"/>
          </a:p>
        </p:txBody>
      </p:sp>
      <p:sp>
        <p:nvSpPr>
          <p:cNvPr id="8" name="Text 4"/>
          <p:cNvSpPr txBox="1"/>
          <p:nvPr/>
        </p:nvSpPr>
        <p:spPr>
          <a:xfrm>
            <a:off x="5989320" y="2766974"/>
            <a:ext cx="2377440" cy="724205"/>
          </a:xfrm>
          <a:prstGeom prst="rect">
            <a:avLst/>
          </a:prstGeom>
          <a:noFill/>
          <a:ln/>
        </p:spPr>
        <p:txBody>
          <a:bodyPr wrap="square" lIns="0" tIns="0" rIns="0" bIns="0" rtlCol="0" anchor="t"/>
          <a:lstStyle/>
          <a:p>
            <a:pPr indent="0" marL="0">
              <a:buNone/>
            </a:pPr>
            <a:r>
              <a:rPr lang="en-US" sz="1400" dirty="0">
                <a:solidFill>
                  <a:schemeClr val="tx2"/>
                </a:solidFill>
              </a:rPr>
              <a:t>of test homes within 10% of the real price</a:t>
            </a:r>
            <a:endParaRPr lang="en-US" sz="1400" dirty="0"/>
          </a:p>
        </p:txBody>
      </p:sp>
      <p:sp>
        <p:nvSpPr>
          <p:cNvPr id="9" name="stat within 15% of the real price"/>
          <p:cNvSpPr/>
          <p:nvPr/>
        </p:nvSpPr>
        <p:spPr>
          <a:xfrm>
            <a:off x="8778240" y="1600200"/>
            <a:ext cx="2834640" cy="2011680"/>
          </a:xfrm>
          <a:prstGeom prst="roundRect">
            <a:avLst>
              <a:gd name="adj" fmla="val 5455"/>
            </a:avLst>
          </a:prstGeom>
          <a:solidFill>
            <a:schemeClr val="bg2"/>
          </a:solidFill>
          <a:ln w="9525">
            <a:solidFill>
              <a:srgbClr val="3A3426"/>
            </a:solidFill>
            <a:prstDash val="solid"/>
          </a:ln>
        </p:spPr>
      </p:sp>
      <p:sp>
        <p:nvSpPr>
          <p:cNvPr id="10" name="Text 6"/>
          <p:cNvSpPr txBox="1"/>
          <p:nvPr/>
        </p:nvSpPr>
        <p:spPr>
          <a:xfrm>
            <a:off x="9006840" y="1783080"/>
            <a:ext cx="237744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77%</a:t>
            </a:r>
            <a:endParaRPr lang="en-US" sz="4400" dirty="0"/>
          </a:p>
        </p:txBody>
      </p:sp>
      <p:sp>
        <p:nvSpPr>
          <p:cNvPr id="11" name="Text 7"/>
          <p:cNvSpPr txBox="1"/>
          <p:nvPr/>
        </p:nvSpPr>
        <p:spPr>
          <a:xfrm>
            <a:off x="9006840" y="2766974"/>
            <a:ext cx="2377440" cy="724205"/>
          </a:xfrm>
          <a:prstGeom prst="rect">
            <a:avLst/>
          </a:prstGeom>
          <a:noFill/>
          <a:ln/>
        </p:spPr>
        <p:txBody>
          <a:bodyPr wrap="square" lIns="0" tIns="0" rIns="0" bIns="0" rtlCol="0" anchor="t"/>
          <a:lstStyle/>
          <a:p>
            <a:pPr indent="0" marL="0">
              <a:buNone/>
            </a:pPr>
            <a:r>
              <a:rPr lang="en-US" sz="1400" dirty="0">
                <a:solidFill>
                  <a:schemeClr val="tx2"/>
                </a:solidFill>
              </a:rPr>
              <a:t>within 15% of the real price</a:t>
            </a:r>
            <a:endParaRPr lang="en-US" sz="1400" dirty="0"/>
          </a:p>
        </p:txBody>
      </p:sp>
      <p:sp>
        <p:nvSpPr>
          <p:cNvPr id="12" name="stat within 20% of the real price"/>
          <p:cNvSpPr/>
          <p:nvPr/>
        </p:nvSpPr>
        <p:spPr>
          <a:xfrm>
            <a:off x="5760720" y="3840480"/>
            <a:ext cx="2834640" cy="2011680"/>
          </a:xfrm>
          <a:prstGeom prst="roundRect">
            <a:avLst>
              <a:gd name="adj" fmla="val 5455"/>
            </a:avLst>
          </a:prstGeom>
          <a:solidFill>
            <a:schemeClr val="bg2"/>
          </a:solidFill>
          <a:ln w="9525">
            <a:solidFill>
              <a:srgbClr val="3A3426"/>
            </a:solidFill>
            <a:prstDash val="solid"/>
          </a:ln>
        </p:spPr>
      </p:sp>
      <p:sp>
        <p:nvSpPr>
          <p:cNvPr id="13" name="Text 9"/>
          <p:cNvSpPr txBox="1"/>
          <p:nvPr/>
        </p:nvSpPr>
        <p:spPr>
          <a:xfrm>
            <a:off x="5989320" y="4023360"/>
            <a:ext cx="237744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87%</a:t>
            </a:r>
            <a:endParaRPr lang="en-US" sz="4400" dirty="0"/>
          </a:p>
        </p:txBody>
      </p:sp>
      <p:sp>
        <p:nvSpPr>
          <p:cNvPr id="14" name="Text 10"/>
          <p:cNvSpPr txBox="1"/>
          <p:nvPr/>
        </p:nvSpPr>
        <p:spPr>
          <a:xfrm>
            <a:off x="5989320" y="5007254"/>
            <a:ext cx="2377440" cy="724205"/>
          </a:xfrm>
          <a:prstGeom prst="rect">
            <a:avLst/>
          </a:prstGeom>
          <a:noFill/>
          <a:ln/>
        </p:spPr>
        <p:txBody>
          <a:bodyPr wrap="square" lIns="0" tIns="0" rIns="0" bIns="0" rtlCol="0" anchor="t"/>
          <a:lstStyle/>
          <a:p>
            <a:pPr indent="0" marL="0">
              <a:buNone/>
            </a:pPr>
            <a:r>
              <a:rPr lang="en-US" sz="1400" dirty="0">
                <a:solidFill>
                  <a:schemeClr val="tx2"/>
                </a:solidFill>
              </a:rPr>
              <a:t>within 20% of the real price</a:t>
            </a:r>
            <a:endParaRPr lang="en-US" sz="1400" dirty="0"/>
          </a:p>
        </p:txBody>
      </p:sp>
      <p:sp>
        <p:nvSpPr>
          <p:cNvPr id="15" name="stat median absolute percentage error"/>
          <p:cNvSpPr/>
          <p:nvPr/>
        </p:nvSpPr>
        <p:spPr>
          <a:xfrm>
            <a:off x="8778240" y="3840480"/>
            <a:ext cx="2834640" cy="2011680"/>
          </a:xfrm>
          <a:prstGeom prst="roundRect">
            <a:avLst>
              <a:gd name="adj" fmla="val 5455"/>
            </a:avLst>
          </a:prstGeom>
          <a:solidFill>
            <a:schemeClr val="bg2"/>
          </a:solidFill>
          <a:ln w="9525">
            <a:solidFill>
              <a:srgbClr val="3A3426"/>
            </a:solidFill>
            <a:prstDash val="solid"/>
          </a:ln>
        </p:spPr>
      </p:sp>
      <p:sp>
        <p:nvSpPr>
          <p:cNvPr id="16" name="Text 12"/>
          <p:cNvSpPr txBox="1"/>
          <p:nvPr/>
        </p:nvSpPr>
        <p:spPr>
          <a:xfrm>
            <a:off x="9006840" y="4023360"/>
            <a:ext cx="237744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6.6%</a:t>
            </a:r>
            <a:endParaRPr lang="en-US" sz="4400" dirty="0"/>
          </a:p>
        </p:txBody>
      </p:sp>
      <p:sp>
        <p:nvSpPr>
          <p:cNvPr id="17" name="Text 13"/>
          <p:cNvSpPr txBox="1"/>
          <p:nvPr/>
        </p:nvSpPr>
        <p:spPr>
          <a:xfrm>
            <a:off x="9006840" y="5007254"/>
            <a:ext cx="2377440" cy="724205"/>
          </a:xfrm>
          <a:prstGeom prst="rect">
            <a:avLst/>
          </a:prstGeom>
          <a:noFill/>
          <a:ln/>
        </p:spPr>
        <p:txBody>
          <a:bodyPr wrap="square" lIns="0" tIns="0" rIns="0" bIns="0" rtlCol="0" anchor="t"/>
          <a:lstStyle/>
          <a:p>
            <a:pPr indent="0" marL="0">
              <a:buNone/>
            </a:pPr>
            <a:r>
              <a:rPr lang="en-US" sz="1400" dirty="0">
                <a:solidFill>
                  <a:schemeClr val="tx2"/>
                </a:solidFill>
              </a:rPr>
              <a:t>median absolute percentage error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A bug that only testing could find</a:t>
            </a:r>
            <a:endParaRPr lang="en-US" sz="3400" dirty="0"/>
          </a:p>
        </p:txBody>
      </p:sp>
      <p:sp>
        <p:nvSpPr>
          <p:cNvPr id="4" name="before card"/>
          <p:cNvSpPr/>
          <p:nvPr/>
        </p:nvSpPr>
        <p:spPr>
          <a:xfrm>
            <a:off x="548640" y="1645920"/>
            <a:ext cx="5394960" cy="3383280"/>
          </a:xfrm>
          <a:prstGeom prst="roundRect">
            <a:avLst>
              <a:gd name="adj" fmla="val 3243"/>
            </a:avLst>
          </a:prstGeom>
          <a:solidFill>
            <a:schemeClr val="bg2"/>
          </a:solidFill>
          <a:ln w="9525">
            <a:solidFill>
              <a:srgbClr val="3A3426"/>
            </a:solidFill>
            <a:prstDash val="solid"/>
          </a:ln>
        </p:spPr>
      </p:sp>
      <p:sp>
        <p:nvSpPr>
          <p:cNvPr id="5" name="Text 2"/>
          <p:cNvSpPr txBox="1"/>
          <p:nvPr/>
        </p:nvSpPr>
        <p:spPr>
          <a:xfrm>
            <a:off x="822960" y="1828800"/>
            <a:ext cx="4846320" cy="365760"/>
          </a:xfrm>
          <a:prstGeom prst="rect">
            <a:avLst/>
          </a:prstGeom>
          <a:noFill/>
          <a:ln/>
        </p:spPr>
        <p:txBody>
          <a:bodyPr wrap="square" lIns="0" tIns="0" rIns="0" bIns="0" rtlCol="0" anchor="t"/>
          <a:lstStyle/>
          <a:p>
            <a:pPr indent="0" marL="0">
              <a:buNone/>
            </a:pPr>
            <a:r>
              <a:rPr lang="en-US" sz="1600" b="1" dirty="0">
                <a:solidFill>
                  <a:schemeClr val="accent3"/>
                </a:solidFill>
              </a:rPr>
              <a:t>BEFORE: one-hot encoding</a:t>
            </a:r>
            <a:endParaRPr lang="en-US" sz="1600" dirty="0"/>
          </a:p>
        </p:txBody>
      </p:sp>
      <p:sp>
        <p:nvSpPr>
          <p:cNvPr id="6" name="Text 3"/>
          <p:cNvSpPr txBox="1"/>
          <p:nvPr/>
        </p:nvSpPr>
        <p:spPr>
          <a:xfrm>
            <a:off x="822960" y="2331720"/>
            <a:ext cx="4846320" cy="100584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$203,204</a:t>
            </a:r>
            <a:endParaRPr lang="en-US" sz="5400" dirty="0"/>
          </a:p>
        </p:txBody>
      </p:sp>
      <p:sp>
        <p:nvSpPr>
          <p:cNvPr id="7" name="Text 4"/>
          <p:cNvSpPr txBox="1"/>
          <p:nvPr/>
        </p:nvSpPr>
        <p:spPr>
          <a:xfrm>
            <a:off x="822960" y="3474720"/>
            <a:ext cx="4846320" cy="1188720"/>
          </a:xfrm>
          <a:prstGeom prst="rect">
            <a:avLst/>
          </a:prstGeom>
          <a:noFill/>
          <a:ln/>
        </p:spPr>
        <p:txBody>
          <a:bodyPr wrap="square" lIns="0" tIns="0" rIns="0" bIns="0" rtlCol="0" anchor="t"/>
          <a:lstStyle/>
          <a:p>
            <a:pPr indent="0" marL="0">
              <a:buNone/>
            </a:pPr>
            <a:r>
              <a:rPr lang="en-US" sz="1600" dirty="0">
                <a:solidFill>
                  <a:schemeClr val="tx2"/>
                </a:solidFill>
              </a:rPr>
              <a:t>the same estimate for most neighborhoods, so choosing a location changed nothing</a:t>
            </a:r>
            <a:endParaRPr lang="en-US" sz="1600" dirty="0"/>
          </a:p>
        </p:txBody>
      </p:sp>
      <p:sp>
        <p:nvSpPr>
          <p:cNvPr id="8" name="after card"/>
          <p:cNvSpPr/>
          <p:nvPr/>
        </p:nvSpPr>
        <p:spPr>
          <a:xfrm>
            <a:off x="6217920" y="1645920"/>
            <a:ext cx="5394960" cy="3383280"/>
          </a:xfrm>
          <a:prstGeom prst="roundRect">
            <a:avLst>
              <a:gd name="adj" fmla="val 3243"/>
            </a:avLst>
          </a:prstGeom>
          <a:solidFill>
            <a:schemeClr val="bg2"/>
          </a:solidFill>
          <a:ln w="9525">
            <a:solidFill>
              <a:srgbClr val="3A3426"/>
            </a:solidFill>
            <a:prstDash val="solid"/>
          </a:ln>
        </p:spPr>
      </p:sp>
      <p:sp>
        <p:nvSpPr>
          <p:cNvPr id="9" name="Text 6"/>
          <p:cNvSpPr txBox="1"/>
          <p:nvPr/>
        </p:nvSpPr>
        <p:spPr>
          <a:xfrm>
            <a:off x="6492240" y="1828800"/>
            <a:ext cx="4846320" cy="365760"/>
          </a:xfrm>
          <a:prstGeom prst="rect">
            <a:avLst/>
          </a:prstGeom>
          <a:noFill/>
          <a:ln/>
        </p:spPr>
        <p:txBody>
          <a:bodyPr wrap="square" lIns="0" tIns="0" rIns="0" bIns="0" rtlCol="0" anchor="t"/>
          <a:lstStyle/>
          <a:p>
            <a:pPr indent="0" marL="0">
              <a:buNone/>
            </a:pPr>
            <a:r>
              <a:rPr lang="en-US" sz="1600" b="1" dirty="0">
                <a:solidFill>
                  <a:schemeClr val="accent4"/>
                </a:solidFill>
              </a:rPr>
              <a:t>AFTER: target encoding</a:t>
            </a:r>
            <a:endParaRPr lang="en-US" sz="1600" dirty="0"/>
          </a:p>
        </p:txBody>
      </p:sp>
      <p:sp>
        <p:nvSpPr>
          <p:cNvPr id="10" name="Text 7"/>
          <p:cNvSpPr txBox="1"/>
          <p:nvPr/>
        </p:nvSpPr>
        <p:spPr>
          <a:xfrm>
            <a:off x="6492240" y="2331720"/>
            <a:ext cx="4846320" cy="1005840"/>
          </a:xfrm>
          <a:prstGeom prst="rect">
            <a:avLst/>
          </a:prstGeom>
          <a:noFill/>
          <a:ln/>
        </p:spPr>
        <p:txBody>
          <a:bodyPr wrap="square" lIns="0" tIns="0" rIns="0" bIns="0" rtlCol="0" anchor="ctr"/>
          <a:lstStyle/>
          <a:p>
            <a:pPr indent="0" marL="0">
              <a:buNone/>
            </a:pPr>
            <a:r>
              <a:rPr lang="en-US" sz="4600" b="1" dirty="0">
                <a:solidFill>
                  <a:schemeClr val="accent4"/>
                </a:solidFill>
                <a:latin typeface="Cambria" pitchFamily="34" charset="0"/>
                <a:ea typeface="Cambria" pitchFamily="34" charset="-122"/>
                <a:cs typeface="Cambria" pitchFamily="34" charset="-120"/>
              </a:rPr>
              <a:t>$165K – $211K</a:t>
            </a:r>
            <a:endParaRPr lang="en-US" sz="4600" dirty="0"/>
          </a:p>
        </p:txBody>
      </p:sp>
      <p:sp>
        <p:nvSpPr>
          <p:cNvPr id="11" name="Text 8"/>
          <p:cNvSpPr txBox="1"/>
          <p:nvPr/>
        </p:nvSpPr>
        <p:spPr>
          <a:xfrm>
            <a:off x="6492240" y="3474720"/>
            <a:ext cx="4846320" cy="1188720"/>
          </a:xfrm>
          <a:prstGeom prst="rect">
            <a:avLst/>
          </a:prstGeom>
          <a:noFill/>
          <a:ln/>
        </p:spPr>
        <p:txBody>
          <a:bodyPr wrap="square" lIns="0" tIns="0" rIns="0" bIns="0" rtlCol="0" anchor="t"/>
          <a:lstStyle/>
          <a:p>
            <a:pPr indent="0" marL="0">
              <a:buNone/>
            </a:pPr>
            <a:r>
              <a:rPr lang="en-US" sz="1600" dirty="0">
                <a:solidFill>
                  <a:schemeClr val="tx2"/>
                </a:solidFill>
              </a:rPr>
              <a:t>range for the same home across neighborhoods, with 21 distinct values</a:t>
            </a:r>
            <a:endParaRPr lang="en-US" sz="1600" dirty="0"/>
          </a:p>
        </p:txBody>
      </p:sp>
      <p:sp>
        <p:nvSpPr>
          <p:cNvPr id="12" name="Text 9"/>
          <p:cNvSpPr txBox="1"/>
          <p:nvPr/>
        </p:nvSpPr>
        <p:spPr>
          <a:xfrm>
            <a:off x="548640" y="5440680"/>
            <a:ext cx="11064240" cy="457200"/>
          </a:xfrm>
          <a:prstGeom prst="rect">
            <a:avLst/>
          </a:prstGeom>
          <a:noFill/>
          <a:ln/>
        </p:spPr>
        <p:txBody>
          <a:bodyPr wrap="square" lIns="0" tIns="0" rIns="0" bIns="0" rtlCol="0" anchor="t"/>
          <a:lstStyle/>
          <a:p>
            <a:pPr indent="0" marL="0">
              <a:buNone/>
            </a:pPr>
            <a:r>
              <a:rPr lang="en-US" sz="2200" i="1" dirty="0">
                <a:solidFill>
                  <a:schemeClr val="accent1"/>
                </a:solidFill>
                <a:latin typeface="Cambria" pitchFamily="34" charset="0"/>
                <a:ea typeface="Cambria" pitchFamily="34" charset="-122"/>
                <a:cs typeface="Cambria" pitchFamily="34" charset="-120"/>
              </a:rPr>
              <a:t>Test the model as a product, not only with a metric.</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Recommendations that explain themselves</a:t>
            </a:r>
            <a:endParaRPr lang="en-US" sz="3400" dirty="0"/>
          </a:p>
        </p:txBody>
      </p:sp>
      <p:sp>
        <p:nvSpPr>
          <p:cNvPr id="4" name="frame Discover page screenshot"/>
          <p:cNvSpPr/>
          <p:nvPr/>
        </p:nvSpPr>
        <p:spPr>
          <a:xfrm>
            <a:off x="484632" y="1456182"/>
            <a:ext cx="6528816" cy="4128516"/>
          </a:xfrm>
          <a:prstGeom prst="roundRect">
            <a:avLst>
              <a:gd name="adj" fmla="val 1772"/>
            </a:avLst>
          </a:prstGeom>
          <a:solidFill>
            <a:schemeClr val="bg2"/>
          </a:solidFill>
          <a:ln w="12700">
            <a:solidFill>
              <a:schemeClr val="accent2"/>
            </a:solidFill>
            <a:prstDash val="solid"/>
          </a:ln>
        </p:spPr>
      </p:sp>
      <p:pic>
        <p:nvPicPr>
          <p:cNvPr id="5" name="Image 0" descr="Discover page screenshot">    </p:cNvPr>
          <p:cNvPicPr>
            <a:picLocks noChangeAspect="1"/>
          </p:cNvPicPr>
          <p:nvPr/>
        </p:nvPicPr>
        <p:blipFill>
          <a:blip r:embed="rId1"/>
          <a:stretch>
            <a:fillRect/>
          </a:stretch>
        </p:blipFill>
        <p:spPr>
          <a:xfrm>
            <a:off x="548640" y="1520190"/>
            <a:ext cx="6400800" cy="4000500"/>
          </a:xfrm>
          <a:prstGeom prst="rect">
            <a:avLst/>
          </a:prstGeom>
        </p:spPr>
      </p:pic>
      <p:graphicFrame>
        <p:nvGraphicFramePr>
          <p:cNvPr id="6" name="Chart 0" descr=""/>
          <p:cNvGraphicFramePr/>
          <p:nvPr/>
        </p:nvGraphicFramePr>
        <p:xfrm>
          <a:off x="7315200" y="1463040"/>
          <a:ext cx="4297680" cy="3108960"/>
        </p:xfrm>
        <a:graphic xmlns:a="http://schemas.openxmlformats.org/drawingml/2006/main">
          <a:graphicData uri="http://schemas.openxmlformats.org/drawingml/2006/chart">
            <c:chart xmlns:c="http://schemas.openxmlformats.org/drawingml/2006/chart" r:id="rId2"/>
          </a:graphicData>
        </a:graphic>
      </p:graphicFrame>
      <p:sp>
        <p:nvSpPr>
          <p:cNvPr id="7" name="reason card"/>
          <p:cNvSpPr/>
          <p:nvPr/>
        </p:nvSpPr>
        <p:spPr>
          <a:xfrm>
            <a:off x="7315200" y="4709160"/>
            <a:ext cx="4297680" cy="1325880"/>
          </a:xfrm>
          <a:prstGeom prst="roundRect">
            <a:avLst>
              <a:gd name="adj" fmla="val 8276"/>
            </a:avLst>
          </a:prstGeom>
          <a:solidFill>
            <a:schemeClr val="bg2"/>
          </a:solidFill>
          <a:ln w="9525">
            <a:solidFill>
              <a:srgbClr val="3A3426"/>
            </a:solidFill>
            <a:prstDash val="solid"/>
          </a:ln>
        </p:spPr>
      </p:sp>
      <p:sp>
        <p:nvSpPr>
          <p:cNvPr id="8" name="Text 3"/>
          <p:cNvSpPr txBox="1"/>
          <p:nvPr/>
        </p:nvSpPr>
        <p:spPr>
          <a:xfrm>
            <a:off x="7543800" y="4846320"/>
            <a:ext cx="3840480" cy="731520"/>
          </a:xfrm>
          <a:prstGeom prst="rect">
            <a:avLst/>
          </a:prstGeom>
          <a:noFill/>
          <a:ln/>
        </p:spPr>
        <p:txBody>
          <a:bodyPr wrap="square" lIns="0" tIns="0" rIns="0" bIns="0" rtlCol="0" anchor="t"/>
          <a:lstStyle/>
          <a:p>
            <a:pPr indent="0" marL="0">
              <a:buNone/>
            </a:pPr>
            <a:r>
              <a:rPr lang="en-US" sz="1400" i="1" dirty="0">
                <a:solidFill>
                  <a:schemeClr val="accent5"/>
                </a:solidFill>
              </a:rPr>
              <a:t>“Listed 9% below the AI fair-value estimate of $268,289”</a:t>
            </a:r>
            <a:endParaRPr lang="en-US" sz="1400" dirty="0"/>
          </a:p>
        </p:txBody>
      </p:sp>
      <p:sp>
        <p:nvSpPr>
          <p:cNvPr id="9" name="Text 4"/>
          <p:cNvSpPr txBox="1"/>
          <p:nvPr/>
        </p:nvSpPr>
        <p:spPr>
          <a:xfrm>
            <a:off x="7543800" y="5623560"/>
            <a:ext cx="3840480" cy="320040"/>
          </a:xfrm>
          <a:prstGeom prst="rect">
            <a:avLst/>
          </a:prstGeom>
          <a:noFill/>
          <a:ln/>
        </p:spPr>
        <p:txBody>
          <a:bodyPr wrap="square" lIns="0" tIns="0" rIns="0" bIns="0" rtlCol="0" anchor="t"/>
          <a:lstStyle/>
          <a:p>
            <a:pPr indent="0" marL="0">
              <a:buNone/>
            </a:pPr>
            <a:r>
              <a:rPr lang="en-US" sz="1100" dirty="0">
                <a:solidFill>
                  <a:schemeClr val="tx2"/>
                </a:solidFill>
              </a:rPr>
              <a:t>An example of a real reason shown with a result</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An AI advisor with guardrails</a:t>
            </a:r>
            <a:endParaRPr lang="en-US" sz="3400" dirty="0"/>
          </a:p>
        </p:txBody>
      </p:sp>
      <p:sp>
        <p:nvSpPr>
          <p:cNvPr id="4" name="frame AI advisor page screenshot"/>
          <p:cNvSpPr/>
          <p:nvPr/>
        </p:nvSpPr>
        <p:spPr>
          <a:xfrm>
            <a:off x="484632" y="1821942"/>
            <a:ext cx="5797296" cy="3671316"/>
          </a:xfrm>
          <a:prstGeom prst="roundRect">
            <a:avLst>
              <a:gd name="adj" fmla="val 1993"/>
            </a:avLst>
          </a:prstGeom>
          <a:solidFill>
            <a:schemeClr val="bg2"/>
          </a:solidFill>
          <a:ln w="12700">
            <a:solidFill>
              <a:schemeClr val="accent2"/>
            </a:solidFill>
            <a:prstDash val="solid"/>
          </a:ln>
        </p:spPr>
      </p:sp>
      <p:pic>
        <p:nvPicPr>
          <p:cNvPr id="5" name="Image 0" descr="AI advisor page screenshot">    </p:cNvPr>
          <p:cNvPicPr>
            <a:picLocks noChangeAspect="1"/>
          </p:cNvPicPr>
          <p:nvPr/>
        </p:nvPicPr>
        <p:blipFill>
          <a:blip r:embed="rId1"/>
          <a:stretch>
            <a:fillRect/>
          </a:stretch>
        </p:blipFill>
        <p:spPr>
          <a:xfrm>
            <a:off x="548640" y="1885950"/>
            <a:ext cx="5669280" cy="3543300"/>
          </a:xfrm>
          <a:prstGeom prst="rect">
            <a:avLst/>
          </a:prstGeom>
        </p:spPr>
      </p:pic>
      <p:sp>
        <p:nvSpPr>
          <p:cNvPr id="6" name="iconbg FaBrain"/>
          <p:cNvSpPr/>
          <p:nvPr/>
        </p:nvSpPr>
        <p:spPr>
          <a:xfrm>
            <a:off x="6583680" y="1600200"/>
            <a:ext cx="594360" cy="594360"/>
          </a:xfrm>
          <a:prstGeom prst="ellipse">
            <a:avLst/>
          </a:prstGeom>
          <a:solidFill>
            <a:schemeClr val="accent1"/>
          </a:solidFill>
          <a:ln w="12700">
            <a:solidFill>
              <a:schemeClr val="accent1"/>
            </a:solidFill>
            <a:prstDash val="solid"/>
          </a:ln>
        </p:spPr>
      </p:sp>
      <p:pic>
        <p:nvPicPr>
          <p:cNvPr id="7" name="Image 1" descr="Brain icon">    </p:cNvPr>
          <p:cNvPicPr>
            <a:picLocks noChangeAspect="1"/>
          </p:cNvPicPr>
          <p:nvPr/>
        </p:nvPicPr>
        <p:blipFill>
          <a:blip r:embed="rId2"/>
          <a:stretch>
            <a:fillRect/>
          </a:stretch>
        </p:blipFill>
        <p:spPr>
          <a:xfrm>
            <a:off x="6714439" y="1730959"/>
            <a:ext cx="332842" cy="332842"/>
          </a:xfrm>
          <a:prstGeom prst="rect">
            <a:avLst/>
          </a:prstGeom>
        </p:spPr>
      </p:pic>
      <p:sp>
        <p:nvSpPr>
          <p:cNvPr id="8" name="Text 3"/>
          <p:cNvSpPr txBox="1"/>
          <p:nvPr/>
        </p:nvSpPr>
        <p:spPr>
          <a:xfrm>
            <a:off x="7406640" y="1581912"/>
            <a:ext cx="420624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Role and tone</a:t>
            </a:r>
            <a:endParaRPr lang="en-US" sz="1700" dirty="0"/>
          </a:p>
        </p:txBody>
      </p:sp>
      <p:sp>
        <p:nvSpPr>
          <p:cNvPr id="9" name="Text 4"/>
          <p:cNvSpPr txBox="1"/>
          <p:nvPr/>
        </p:nvSpPr>
        <p:spPr>
          <a:xfrm>
            <a:off x="7406640" y="1947672"/>
            <a:ext cx="4206240" cy="320040"/>
          </a:xfrm>
          <a:prstGeom prst="rect">
            <a:avLst/>
          </a:prstGeom>
          <a:noFill/>
          <a:ln/>
        </p:spPr>
        <p:txBody>
          <a:bodyPr wrap="square" lIns="0" tIns="0" rIns="0" bIns="0" rtlCol="0" anchor="t"/>
          <a:lstStyle/>
          <a:p>
            <a:pPr indent="0" marL="0">
              <a:buNone/>
            </a:pPr>
            <a:r>
              <a:rPr lang="en-US" sz="1400" dirty="0">
                <a:solidFill>
                  <a:schemeClr val="tx2"/>
                </a:solidFill>
              </a:rPr>
              <a:t>A concise professional advisor</a:t>
            </a:r>
            <a:endParaRPr lang="en-US" sz="1400" dirty="0"/>
          </a:p>
        </p:txBody>
      </p:sp>
      <p:sp>
        <p:nvSpPr>
          <p:cNvPr id="10" name="iconbg FaDatabase"/>
          <p:cNvSpPr/>
          <p:nvPr/>
        </p:nvSpPr>
        <p:spPr>
          <a:xfrm>
            <a:off x="6583680" y="2487168"/>
            <a:ext cx="594360" cy="594360"/>
          </a:xfrm>
          <a:prstGeom prst="ellipse">
            <a:avLst/>
          </a:prstGeom>
          <a:solidFill>
            <a:schemeClr val="accent1"/>
          </a:solidFill>
          <a:ln w="12700">
            <a:solidFill>
              <a:schemeClr val="accent1"/>
            </a:solidFill>
            <a:prstDash val="solid"/>
          </a:ln>
        </p:spPr>
      </p:sp>
      <p:pic>
        <p:nvPicPr>
          <p:cNvPr id="11" name="Image 2" descr="Database icon">    </p:cNvPr>
          <p:cNvPicPr>
            <a:picLocks noChangeAspect="1"/>
          </p:cNvPicPr>
          <p:nvPr/>
        </p:nvPicPr>
        <p:blipFill>
          <a:blip r:embed="rId3"/>
          <a:stretch>
            <a:fillRect/>
          </a:stretch>
        </p:blipFill>
        <p:spPr>
          <a:xfrm>
            <a:off x="6714439" y="2617927"/>
            <a:ext cx="332842" cy="332842"/>
          </a:xfrm>
          <a:prstGeom prst="rect">
            <a:avLst/>
          </a:prstGeom>
        </p:spPr>
      </p:pic>
      <p:sp>
        <p:nvSpPr>
          <p:cNvPr id="12" name="Text 6"/>
          <p:cNvSpPr txBox="1"/>
          <p:nvPr/>
        </p:nvSpPr>
        <p:spPr>
          <a:xfrm>
            <a:off x="7406640" y="2468880"/>
            <a:ext cx="420624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Real market facts</a:t>
            </a:r>
            <a:endParaRPr lang="en-US" sz="1700" dirty="0"/>
          </a:p>
        </p:txBody>
      </p:sp>
      <p:sp>
        <p:nvSpPr>
          <p:cNvPr id="13" name="Text 7"/>
          <p:cNvSpPr txBox="1"/>
          <p:nvPr/>
        </p:nvSpPr>
        <p:spPr>
          <a:xfrm>
            <a:off x="7406640" y="2834640"/>
            <a:ext cx="4206240" cy="320040"/>
          </a:xfrm>
          <a:prstGeom prst="rect">
            <a:avLst/>
          </a:prstGeom>
          <a:noFill/>
          <a:ln/>
        </p:spPr>
        <p:txBody>
          <a:bodyPr wrap="square" lIns="0" tIns="0" rIns="0" bIns="0" rtlCol="0" anchor="t"/>
          <a:lstStyle/>
          <a:p>
            <a:pPr indent="0" marL="0">
              <a:buNone/>
            </a:pPr>
            <a:r>
              <a:rPr lang="en-US" sz="1400" dirty="0">
                <a:solidFill>
                  <a:schemeClr val="tx2"/>
                </a:solidFill>
              </a:rPr>
              <a:t>Statistics injected from the data</a:t>
            </a:r>
            <a:endParaRPr lang="en-US" sz="1400" dirty="0"/>
          </a:p>
        </p:txBody>
      </p:sp>
      <p:sp>
        <p:nvSpPr>
          <p:cNvPr id="14" name="iconbg FaShieldAlt"/>
          <p:cNvSpPr/>
          <p:nvPr/>
        </p:nvSpPr>
        <p:spPr>
          <a:xfrm>
            <a:off x="6583680" y="3374136"/>
            <a:ext cx="594360" cy="594360"/>
          </a:xfrm>
          <a:prstGeom prst="ellipse">
            <a:avLst/>
          </a:prstGeom>
          <a:solidFill>
            <a:schemeClr val="accent1"/>
          </a:solidFill>
          <a:ln w="12700">
            <a:solidFill>
              <a:schemeClr val="accent1"/>
            </a:solidFill>
            <a:prstDash val="solid"/>
          </a:ln>
        </p:spPr>
      </p:sp>
      <p:pic>
        <p:nvPicPr>
          <p:cNvPr id="15" name="Image 3" descr="ShieldAlt icon">    </p:cNvPr>
          <p:cNvPicPr>
            <a:picLocks noChangeAspect="1"/>
          </p:cNvPicPr>
          <p:nvPr/>
        </p:nvPicPr>
        <p:blipFill>
          <a:blip r:embed="rId4"/>
          <a:stretch>
            <a:fillRect/>
          </a:stretch>
        </p:blipFill>
        <p:spPr>
          <a:xfrm>
            <a:off x="6714439" y="3504895"/>
            <a:ext cx="332842" cy="332842"/>
          </a:xfrm>
          <a:prstGeom prst="rect">
            <a:avLst/>
          </a:prstGeom>
        </p:spPr>
      </p:pic>
      <p:sp>
        <p:nvSpPr>
          <p:cNvPr id="16" name="Text 9"/>
          <p:cNvSpPr txBox="1"/>
          <p:nvPr/>
        </p:nvSpPr>
        <p:spPr>
          <a:xfrm>
            <a:off x="7406640" y="3355848"/>
            <a:ext cx="420624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No invented numbers</a:t>
            </a:r>
            <a:endParaRPr lang="en-US" sz="1700" dirty="0"/>
          </a:p>
        </p:txBody>
      </p:sp>
      <p:sp>
        <p:nvSpPr>
          <p:cNvPr id="17" name="Text 10"/>
          <p:cNvSpPr txBox="1"/>
          <p:nvPr/>
        </p:nvSpPr>
        <p:spPr>
          <a:xfrm>
            <a:off x="7406640" y="3721608"/>
            <a:ext cx="4206240" cy="320040"/>
          </a:xfrm>
          <a:prstGeom prst="rect">
            <a:avLst/>
          </a:prstGeom>
          <a:noFill/>
          <a:ln/>
        </p:spPr>
        <p:txBody>
          <a:bodyPr wrap="square" lIns="0" tIns="0" rIns="0" bIns="0" rtlCol="0" anchor="t"/>
          <a:lstStyle/>
          <a:p>
            <a:pPr indent="0" marL="0">
              <a:buNone/>
            </a:pPr>
            <a:r>
              <a:rPr lang="en-US" sz="1400" dirty="0">
                <a:solidFill>
                  <a:schemeClr val="tx2"/>
                </a:solidFill>
              </a:rPr>
              <a:t>Figures only from context or the user</a:t>
            </a:r>
            <a:endParaRPr lang="en-US" sz="1400" dirty="0"/>
          </a:p>
        </p:txBody>
      </p:sp>
      <p:sp>
        <p:nvSpPr>
          <p:cNvPr id="18" name="iconbg FaBalanceScale"/>
          <p:cNvSpPr/>
          <p:nvPr/>
        </p:nvSpPr>
        <p:spPr>
          <a:xfrm>
            <a:off x="6583680" y="4261104"/>
            <a:ext cx="594360" cy="594360"/>
          </a:xfrm>
          <a:prstGeom prst="ellipse">
            <a:avLst/>
          </a:prstGeom>
          <a:solidFill>
            <a:schemeClr val="accent1"/>
          </a:solidFill>
          <a:ln w="12700">
            <a:solidFill>
              <a:schemeClr val="accent1"/>
            </a:solidFill>
            <a:prstDash val="solid"/>
          </a:ln>
        </p:spPr>
      </p:sp>
      <p:pic>
        <p:nvPicPr>
          <p:cNvPr id="19" name="Image 4" descr="BalanceScale icon">    </p:cNvPr>
          <p:cNvPicPr>
            <a:picLocks noChangeAspect="1"/>
          </p:cNvPicPr>
          <p:nvPr/>
        </p:nvPicPr>
        <p:blipFill>
          <a:blip r:embed="rId5"/>
          <a:stretch>
            <a:fillRect/>
          </a:stretch>
        </p:blipFill>
        <p:spPr>
          <a:xfrm>
            <a:off x="6714439" y="4391863"/>
            <a:ext cx="332842" cy="332842"/>
          </a:xfrm>
          <a:prstGeom prst="rect">
            <a:avLst/>
          </a:prstGeom>
        </p:spPr>
      </p:pic>
      <p:sp>
        <p:nvSpPr>
          <p:cNvPr id="20" name="Text 12"/>
          <p:cNvSpPr txBox="1"/>
          <p:nvPr/>
        </p:nvSpPr>
        <p:spPr>
          <a:xfrm>
            <a:off x="7406640" y="4242816"/>
            <a:ext cx="420624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Professional limits</a:t>
            </a:r>
            <a:endParaRPr lang="en-US" sz="1700" dirty="0"/>
          </a:p>
        </p:txBody>
      </p:sp>
      <p:sp>
        <p:nvSpPr>
          <p:cNvPr id="21" name="Text 13"/>
          <p:cNvSpPr txBox="1"/>
          <p:nvPr/>
        </p:nvSpPr>
        <p:spPr>
          <a:xfrm>
            <a:off x="7406640" y="4608576"/>
            <a:ext cx="4206240" cy="320040"/>
          </a:xfrm>
          <a:prstGeom prst="rect">
            <a:avLst/>
          </a:prstGeom>
          <a:noFill/>
          <a:ln/>
        </p:spPr>
        <p:txBody>
          <a:bodyPr wrap="square" lIns="0" tIns="0" rIns="0" bIns="0" rtlCol="0" anchor="t"/>
          <a:lstStyle/>
          <a:p>
            <a:pPr indent="0" marL="0">
              <a:buNone/>
            </a:pPr>
            <a:r>
              <a:rPr lang="en-US" sz="1400" dirty="0">
                <a:solidFill>
                  <a:schemeClr val="tx2"/>
                </a:solidFill>
              </a:rPr>
              <a:t>Not legal, tax or financial advice</a:t>
            </a:r>
            <a:endParaRPr lang="en-US" sz="1400" dirty="0"/>
          </a:p>
        </p:txBody>
      </p:sp>
      <p:sp>
        <p:nvSpPr>
          <p:cNvPr id="22" name="iconbg FaWifi"/>
          <p:cNvSpPr/>
          <p:nvPr/>
        </p:nvSpPr>
        <p:spPr>
          <a:xfrm>
            <a:off x="6583680" y="5148072"/>
            <a:ext cx="594360" cy="594360"/>
          </a:xfrm>
          <a:prstGeom prst="ellipse">
            <a:avLst/>
          </a:prstGeom>
          <a:solidFill>
            <a:schemeClr val="accent1"/>
          </a:solidFill>
          <a:ln w="12700">
            <a:solidFill>
              <a:schemeClr val="accent1"/>
            </a:solidFill>
            <a:prstDash val="solid"/>
          </a:ln>
        </p:spPr>
      </p:sp>
      <p:pic>
        <p:nvPicPr>
          <p:cNvPr id="23" name="Image 5" descr="Wifi icon">    </p:cNvPr>
          <p:cNvPicPr>
            <a:picLocks noChangeAspect="1"/>
          </p:cNvPicPr>
          <p:nvPr/>
        </p:nvPicPr>
        <p:blipFill>
          <a:blip r:embed="rId6"/>
          <a:stretch>
            <a:fillRect/>
          </a:stretch>
        </p:blipFill>
        <p:spPr>
          <a:xfrm>
            <a:off x="6714439" y="5278831"/>
            <a:ext cx="332842" cy="332842"/>
          </a:xfrm>
          <a:prstGeom prst="rect">
            <a:avLst/>
          </a:prstGeom>
        </p:spPr>
      </p:pic>
      <p:sp>
        <p:nvSpPr>
          <p:cNvPr id="24" name="Text 15"/>
          <p:cNvSpPr txBox="1"/>
          <p:nvPr/>
        </p:nvSpPr>
        <p:spPr>
          <a:xfrm>
            <a:off x="7406640" y="5129784"/>
            <a:ext cx="4206240" cy="3474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Offline fallback</a:t>
            </a:r>
            <a:endParaRPr lang="en-US" sz="1700" dirty="0"/>
          </a:p>
        </p:txBody>
      </p:sp>
      <p:sp>
        <p:nvSpPr>
          <p:cNvPr id="25" name="Text 16"/>
          <p:cNvSpPr txBox="1"/>
          <p:nvPr/>
        </p:nvSpPr>
        <p:spPr>
          <a:xfrm>
            <a:off x="7406640" y="5495544"/>
            <a:ext cx="4206240" cy="320040"/>
          </a:xfrm>
          <a:prstGeom prst="rect">
            <a:avLst/>
          </a:prstGeom>
          <a:noFill/>
          <a:ln/>
        </p:spPr>
        <p:txBody>
          <a:bodyPr wrap="square" lIns="0" tIns="0" rIns="0" bIns="0" rtlCol="0" anchor="t"/>
          <a:lstStyle/>
          <a:p>
            <a:pPr indent="0" marL="0">
              <a:buNone/>
            </a:pPr>
            <a:r>
              <a:rPr lang="en-US" sz="1400" dirty="0">
                <a:solidFill>
                  <a:schemeClr val="tx2"/>
                </a:solidFill>
              </a:rPr>
              <a:t>Keeps working without an API key</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RAG: answers grounded in real documents</a:t>
            </a:r>
            <a:endParaRPr lang="en-US" sz="3400" dirty="0"/>
          </a:p>
        </p:txBody>
      </p:sp>
      <p:sp>
        <p:nvSpPr>
          <p:cNvPr id="4" name="frame RAG pipeline diagram"/>
          <p:cNvSpPr/>
          <p:nvPr/>
        </p:nvSpPr>
        <p:spPr>
          <a:xfrm>
            <a:off x="966515" y="1399032"/>
            <a:ext cx="10228490" cy="2505456"/>
          </a:xfrm>
          <a:prstGeom prst="roundRect">
            <a:avLst>
              <a:gd name="adj" fmla="val 2920"/>
            </a:avLst>
          </a:prstGeom>
          <a:solidFill>
            <a:schemeClr val="bg2"/>
          </a:solidFill>
          <a:ln w="12700">
            <a:solidFill>
              <a:schemeClr val="accent2"/>
            </a:solidFill>
            <a:prstDash val="solid"/>
          </a:ln>
        </p:spPr>
      </p:sp>
      <p:pic>
        <p:nvPicPr>
          <p:cNvPr id="5" name="Image 0" descr="RAG pipeline diagram">    </p:cNvPr>
          <p:cNvPicPr>
            <a:picLocks noChangeAspect="1"/>
          </p:cNvPicPr>
          <p:nvPr/>
        </p:nvPicPr>
        <p:blipFill>
          <a:blip r:embed="rId1"/>
          <a:stretch>
            <a:fillRect/>
          </a:stretch>
        </p:blipFill>
        <p:spPr>
          <a:xfrm>
            <a:off x="1030523" y="1463040"/>
            <a:ext cx="10100474" cy="2377440"/>
          </a:xfrm>
          <a:prstGeom prst="rect">
            <a:avLst/>
          </a:prstGeom>
        </p:spPr>
      </p:pic>
      <p:sp>
        <p:nvSpPr>
          <p:cNvPr id="6" name="stat buying guide, Iowa legal process, investing, area data"/>
          <p:cNvSpPr/>
          <p:nvPr/>
        </p:nvSpPr>
        <p:spPr>
          <a:xfrm>
            <a:off x="548640" y="4160520"/>
            <a:ext cx="3566160" cy="1737360"/>
          </a:xfrm>
          <a:prstGeom prst="roundRect">
            <a:avLst>
              <a:gd name="adj" fmla="val 6316"/>
            </a:avLst>
          </a:prstGeom>
          <a:solidFill>
            <a:schemeClr val="bg2"/>
          </a:solidFill>
          <a:ln w="9525">
            <a:solidFill>
              <a:srgbClr val="3A3426"/>
            </a:solidFill>
            <a:prstDash val="solid"/>
          </a:ln>
        </p:spPr>
      </p:sp>
      <p:sp>
        <p:nvSpPr>
          <p:cNvPr id="7" name="Text 3"/>
          <p:cNvSpPr txBox="1"/>
          <p:nvPr/>
        </p:nvSpPr>
        <p:spPr>
          <a:xfrm>
            <a:off x="777240" y="4343400"/>
            <a:ext cx="3108960" cy="8686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 docs</a:t>
            </a:r>
            <a:endParaRPr lang="en-US" sz="3600" dirty="0"/>
          </a:p>
        </p:txBody>
      </p:sp>
      <p:sp>
        <p:nvSpPr>
          <p:cNvPr id="8" name="Text 4"/>
          <p:cNvSpPr txBox="1"/>
          <p:nvPr/>
        </p:nvSpPr>
        <p:spPr>
          <a:xfrm>
            <a:off x="777240" y="5168189"/>
            <a:ext cx="3108960" cy="625450"/>
          </a:xfrm>
          <a:prstGeom prst="rect">
            <a:avLst/>
          </a:prstGeom>
          <a:noFill/>
          <a:ln/>
        </p:spPr>
        <p:txBody>
          <a:bodyPr wrap="square" lIns="0" tIns="0" rIns="0" bIns="0" rtlCol="0" anchor="t"/>
          <a:lstStyle/>
          <a:p>
            <a:pPr indent="0" marL="0">
              <a:buNone/>
            </a:pPr>
            <a:r>
              <a:rPr lang="en-US" sz="1400" dirty="0">
                <a:solidFill>
                  <a:schemeClr val="tx2"/>
                </a:solidFill>
              </a:rPr>
              <a:t>buying guide, Iowa legal process, investing, area data</a:t>
            </a:r>
            <a:endParaRPr lang="en-US" sz="1400" dirty="0"/>
          </a:p>
        </p:txBody>
      </p:sp>
      <p:sp>
        <p:nvSpPr>
          <p:cNvPr id="9" name="stat right document ranked first on 15 questions (baseline 93%)"/>
          <p:cNvSpPr/>
          <p:nvPr/>
        </p:nvSpPr>
        <p:spPr>
          <a:xfrm>
            <a:off x="4297680" y="4160520"/>
            <a:ext cx="3566160" cy="1737360"/>
          </a:xfrm>
          <a:prstGeom prst="roundRect">
            <a:avLst>
              <a:gd name="adj" fmla="val 6316"/>
            </a:avLst>
          </a:prstGeom>
          <a:solidFill>
            <a:schemeClr val="bg2"/>
          </a:solidFill>
          <a:ln w="9525">
            <a:solidFill>
              <a:srgbClr val="3A3426"/>
            </a:solidFill>
            <a:prstDash val="solid"/>
          </a:ln>
        </p:spPr>
      </p:sp>
      <p:sp>
        <p:nvSpPr>
          <p:cNvPr id="10" name="Text 6"/>
          <p:cNvSpPr txBox="1"/>
          <p:nvPr/>
        </p:nvSpPr>
        <p:spPr>
          <a:xfrm>
            <a:off x="4526280" y="4343400"/>
            <a:ext cx="3108960" cy="8686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100%</a:t>
            </a:r>
            <a:endParaRPr lang="en-US" sz="3600" dirty="0"/>
          </a:p>
        </p:txBody>
      </p:sp>
      <p:sp>
        <p:nvSpPr>
          <p:cNvPr id="11" name="Text 7"/>
          <p:cNvSpPr txBox="1"/>
          <p:nvPr/>
        </p:nvSpPr>
        <p:spPr>
          <a:xfrm>
            <a:off x="4526280" y="5168189"/>
            <a:ext cx="3108960" cy="625450"/>
          </a:xfrm>
          <a:prstGeom prst="rect">
            <a:avLst/>
          </a:prstGeom>
          <a:noFill/>
          <a:ln/>
        </p:spPr>
        <p:txBody>
          <a:bodyPr wrap="square" lIns="0" tIns="0" rIns="0" bIns="0" rtlCol="0" anchor="t"/>
          <a:lstStyle/>
          <a:p>
            <a:pPr indent="0" marL="0">
              <a:buNone/>
            </a:pPr>
            <a:r>
              <a:rPr lang="en-US" sz="1400" dirty="0">
                <a:solidFill>
                  <a:schemeClr val="tx2"/>
                </a:solidFill>
              </a:rPr>
              <a:t>right document ranked first on 15 questions (baseline 93%)</a:t>
            </a:r>
            <a:endParaRPr lang="en-US" sz="1400" dirty="0"/>
          </a:p>
        </p:txBody>
      </p:sp>
      <p:sp>
        <p:nvSpPr>
          <p:cNvPr id="12" name="stat every answer cites its source passages"/>
          <p:cNvSpPr/>
          <p:nvPr/>
        </p:nvSpPr>
        <p:spPr>
          <a:xfrm>
            <a:off x="8046720" y="4160520"/>
            <a:ext cx="3566160" cy="1737360"/>
          </a:xfrm>
          <a:prstGeom prst="roundRect">
            <a:avLst>
              <a:gd name="adj" fmla="val 6316"/>
            </a:avLst>
          </a:prstGeom>
          <a:solidFill>
            <a:schemeClr val="bg2"/>
          </a:solidFill>
          <a:ln w="9525">
            <a:solidFill>
              <a:srgbClr val="3A3426"/>
            </a:solidFill>
            <a:prstDash val="solid"/>
          </a:ln>
        </p:spPr>
      </p:sp>
      <p:sp>
        <p:nvSpPr>
          <p:cNvPr id="13" name="Text 9"/>
          <p:cNvSpPr txBox="1"/>
          <p:nvPr/>
        </p:nvSpPr>
        <p:spPr>
          <a:xfrm>
            <a:off x="8275320" y="4343400"/>
            <a:ext cx="3108960" cy="8686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 [2]</a:t>
            </a:r>
            <a:endParaRPr lang="en-US" sz="3600" dirty="0"/>
          </a:p>
        </p:txBody>
      </p:sp>
      <p:sp>
        <p:nvSpPr>
          <p:cNvPr id="14" name="Text 10"/>
          <p:cNvSpPr txBox="1"/>
          <p:nvPr/>
        </p:nvSpPr>
        <p:spPr>
          <a:xfrm>
            <a:off x="8275320" y="5168189"/>
            <a:ext cx="3108960" cy="625450"/>
          </a:xfrm>
          <a:prstGeom prst="rect">
            <a:avLst/>
          </a:prstGeom>
          <a:noFill/>
          <a:ln/>
        </p:spPr>
        <p:txBody>
          <a:bodyPr wrap="square" lIns="0" tIns="0" rIns="0" bIns="0" rtlCol="0" anchor="t"/>
          <a:lstStyle/>
          <a:p>
            <a:pPr indent="0" marL="0">
              <a:buNone/>
            </a:pPr>
            <a:r>
              <a:rPr lang="en-US" sz="1400" dirty="0">
                <a:solidFill>
                  <a:schemeClr val="tx2"/>
                </a:solidFill>
              </a:rPr>
              <a:t>every answer cites its source passages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Product tour</a:t>
            </a:r>
            <a:endParaRPr lang="en-US" sz="3400" dirty="0"/>
          </a:p>
        </p:txBody>
      </p:sp>
      <p:sp>
        <p:nvSpPr>
          <p:cNvPr id="4" name="frame Price prediction with what-if analysis screenshot"/>
          <p:cNvSpPr/>
          <p:nvPr/>
        </p:nvSpPr>
        <p:spPr>
          <a:xfrm>
            <a:off x="484632" y="1564767"/>
            <a:ext cx="3694176" cy="2356866"/>
          </a:xfrm>
          <a:prstGeom prst="roundRect">
            <a:avLst>
              <a:gd name="adj" fmla="val 3104"/>
            </a:avLst>
          </a:prstGeom>
          <a:solidFill>
            <a:schemeClr val="bg2"/>
          </a:solidFill>
          <a:ln w="12700">
            <a:solidFill>
              <a:schemeClr val="accent2"/>
            </a:solidFill>
            <a:prstDash val="solid"/>
          </a:ln>
        </p:spPr>
      </p:sp>
      <p:pic>
        <p:nvPicPr>
          <p:cNvPr id="5" name="Image 0" descr="Price prediction with what-if analysis screenshot">    </p:cNvPr>
          <p:cNvPicPr>
            <a:picLocks noChangeAspect="1"/>
          </p:cNvPicPr>
          <p:nvPr/>
        </p:nvPicPr>
        <p:blipFill>
          <a:blip r:embed="rId1"/>
          <a:stretch>
            <a:fillRect/>
          </a:stretch>
        </p:blipFill>
        <p:spPr>
          <a:xfrm>
            <a:off x="548640" y="1628775"/>
            <a:ext cx="3566160" cy="2228850"/>
          </a:xfrm>
          <a:prstGeom prst="rect">
            <a:avLst/>
          </a:prstGeom>
        </p:spPr>
      </p:pic>
      <p:sp>
        <p:nvSpPr>
          <p:cNvPr id="6" name="Text 2"/>
          <p:cNvSpPr txBox="1"/>
          <p:nvPr/>
        </p:nvSpPr>
        <p:spPr>
          <a:xfrm>
            <a:off x="548640" y="4114800"/>
            <a:ext cx="3566160" cy="64008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prediction with what-if analysis</a:t>
            </a:r>
            <a:endParaRPr lang="en-US" sz="1600" dirty="0"/>
          </a:p>
        </p:txBody>
      </p:sp>
      <p:sp>
        <p:nvSpPr>
          <p:cNvPr id="7" name="frame Recommendations with reasons and compare screenshot"/>
          <p:cNvSpPr/>
          <p:nvPr/>
        </p:nvSpPr>
        <p:spPr>
          <a:xfrm>
            <a:off x="4233672" y="1564767"/>
            <a:ext cx="3694176" cy="2356866"/>
          </a:xfrm>
          <a:prstGeom prst="roundRect">
            <a:avLst>
              <a:gd name="adj" fmla="val 3104"/>
            </a:avLst>
          </a:prstGeom>
          <a:solidFill>
            <a:schemeClr val="bg2"/>
          </a:solidFill>
          <a:ln w="12700">
            <a:solidFill>
              <a:schemeClr val="accent2"/>
            </a:solidFill>
            <a:prstDash val="solid"/>
          </a:ln>
        </p:spPr>
      </p:sp>
      <p:pic>
        <p:nvPicPr>
          <p:cNvPr id="8" name="Image 1" descr="Recommendations with reasons and compare screenshot">    </p:cNvPr>
          <p:cNvPicPr>
            <a:picLocks noChangeAspect="1"/>
          </p:cNvPicPr>
          <p:nvPr/>
        </p:nvPicPr>
        <p:blipFill>
          <a:blip r:embed="rId2"/>
          <a:stretch>
            <a:fillRect/>
          </a:stretch>
        </p:blipFill>
        <p:spPr>
          <a:xfrm>
            <a:off x="4297680" y="1628775"/>
            <a:ext cx="3566160" cy="2228850"/>
          </a:xfrm>
          <a:prstGeom prst="rect">
            <a:avLst/>
          </a:prstGeom>
        </p:spPr>
      </p:pic>
      <p:sp>
        <p:nvSpPr>
          <p:cNvPr id="9" name="Text 4"/>
          <p:cNvSpPr txBox="1"/>
          <p:nvPr/>
        </p:nvSpPr>
        <p:spPr>
          <a:xfrm>
            <a:off x="4297680" y="4114800"/>
            <a:ext cx="3566160" cy="64008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Recommendations with reasons and compare</a:t>
            </a:r>
            <a:endParaRPr lang="en-US" sz="1600" dirty="0"/>
          </a:p>
        </p:txBody>
      </p:sp>
      <p:sp>
        <p:nvSpPr>
          <p:cNvPr id="10" name="frame Interactive market insights screenshot"/>
          <p:cNvSpPr/>
          <p:nvPr/>
        </p:nvSpPr>
        <p:spPr>
          <a:xfrm>
            <a:off x="7982712" y="1564767"/>
            <a:ext cx="3694176" cy="2356866"/>
          </a:xfrm>
          <a:prstGeom prst="roundRect">
            <a:avLst>
              <a:gd name="adj" fmla="val 3104"/>
            </a:avLst>
          </a:prstGeom>
          <a:solidFill>
            <a:schemeClr val="bg2"/>
          </a:solidFill>
          <a:ln w="12700">
            <a:solidFill>
              <a:schemeClr val="accent2"/>
            </a:solidFill>
            <a:prstDash val="solid"/>
          </a:ln>
        </p:spPr>
      </p:sp>
      <p:pic>
        <p:nvPicPr>
          <p:cNvPr id="11" name="Image 2" descr="Interactive market insights screenshot">    </p:cNvPr>
          <p:cNvPicPr>
            <a:picLocks noChangeAspect="1"/>
          </p:cNvPicPr>
          <p:nvPr/>
        </p:nvPicPr>
        <p:blipFill>
          <a:blip r:embed="rId3"/>
          <a:stretch>
            <a:fillRect/>
          </a:stretch>
        </p:blipFill>
        <p:spPr>
          <a:xfrm>
            <a:off x="8046720" y="1628775"/>
            <a:ext cx="3566160" cy="2228850"/>
          </a:xfrm>
          <a:prstGeom prst="rect">
            <a:avLst/>
          </a:prstGeom>
        </p:spPr>
      </p:pic>
      <p:sp>
        <p:nvSpPr>
          <p:cNvPr id="12" name="Text 6"/>
          <p:cNvSpPr txBox="1"/>
          <p:nvPr/>
        </p:nvSpPr>
        <p:spPr>
          <a:xfrm>
            <a:off x="8046720" y="4114800"/>
            <a:ext cx="3566160" cy="64008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Interactive market insights</a:t>
            </a:r>
            <a:endParaRPr lang="en-US" sz="1600" dirty="0"/>
          </a:p>
        </p:txBody>
      </p:sp>
      <p:sp>
        <p:nvSpPr>
          <p:cNvPr id="13" name="Text 7"/>
          <p:cNvSpPr txBox="1"/>
          <p:nvPr/>
        </p:nvSpPr>
        <p:spPr>
          <a:xfrm>
            <a:off x="548640" y="5120640"/>
            <a:ext cx="11064240" cy="457200"/>
          </a:xfrm>
          <a:prstGeom prst="rect">
            <a:avLst/>
          </a:prstGeom>
          <a:noFill/>
          <a:ln/>
        </p:spPr>
        <p:txBody>
          <a:bodyPr wrap="square" lIns="0" tIns="0" rIns="0" bIns="0" rtlCol="0" anchor="t"/>
          <a:lstStyle/>
          <a:p>
            <a:pPr algn="ctr" indent="0" marL="0">
              <a:buNone/>
            </a:pPr>
            <a:r>
              <a:rPr lang="en-US" sz="1600" dirty="0">
                <a:solidFill>
                  <a:schemeClr val="accent1"/>
                </a:solidFill>
              </a:rPr>
              <a:t>Also: login, saved homes, compare up to three, AI summaries, PDF report, document upload</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Built like a real product</a:t>
            </a:r>
            <a:endParaRPr lang="en-US" sz="3400" dirty="0"/>
          </a:p>
        </p:txBody>
      </p:sp>
      <p:sp>
        <p:nvSpPr>
          <p:cNvPr id="4" name="eng card 0"/>
          <p:cNvSpPr/>
          <p:nvPr/>
        </p:nvSpPr>
        <p:spPr>
          <a:xfrm>
            <a:off x="548640" y="1645920"/>
            <a:ext cx="5760720" cy="1188720"/>
          </a:xfrm>
          <a:prstGeom prst="roundRect">
            <a:avLst>
              <a:gd name="adj" fmla="val 9231"/>
            </a:avLst>
          </a:prstGeom>
          <a:solidFill>
            <a:schemeClr val="bg2"/>
          </a:solidFill>
          <a:ln w="9525">
            <a:solidFill>
              <a:srgbClr val="3A3426"/>
            </a:solidFill>
            <a:prstDash val="solid"/>
          </a:ln>
        </p:spPr>
      </p:sp>
      <p:sp>
        <p:nvSpPr>
          <p:cNvPr id="5" name="iconbg FaCheckCircle"/>
          <p:cNvSpPr/>
          <p:nvPr/>
        </p:nvSpPr>
        <p:spPr>
          <a:xfrm>
            <a:off x="777240" y="1920240"/>
            <a:ext cx="640080" cy="640080"/>
          </a:xfrm>
          <a:prstGeom prst="ellipse">
            <a:avLst/>
          </a:prstGeom>
          <a:solidFill>
            <a:schemeClr val="accent1"/>
          </a:solidFill>
          <a:ln w="12700">
            <a:solidFill>
              <a:schemeClr val="accent1"/>
            </a:solidFill>
            <a:prstDash val="solid"/>
          </a:ln>
        </p:spPr>
      </p:sp>
      <p:pic>
        <p:nvPicPr>
          <p:cNvPr id="6" name="Image 0" descr="CheckCircle icon">    </p:cNvPr>
          <p:cNvPicPr>
            <a:picLocks noChangeAspect="1"/>
          </p:cNvPicPr>
          <p:nvPr/>
        </p:nvPicPr>
        <p:blipFill>
          <a:blip r:embed="rId1"/>
          <a:stretch>
            <a:fillRect/>
          </a:stretch>
        </p:blipFill>
        <p:spPr>
          <a:xfrm>
            <a:off x="918058" y="2061058"/>
            <a:ext cx="358445" cy="358445"/>
          </a:xfrm>
          <a:prstGeom prst="rect">
            <a:avLst/>
          </a:prstGeom>
        </p:spPr>
      </p:pic>
      <p:sp>
        <p:nvSpPr>
          <p:cNvPr id="7" name="Text 3"/>
          <p:cNvSpPr txBox="1"/>
          <p:nvPr/>
        </p:nvSpPr>
        <p:spPr>
          <a:xfrm>
            <a:off x="1645920" y="1828800"/>
            <a:ext cx="4480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10 automated tests</a:t>
            </a:r>
            <a:endParaRPr lang="en-US" sz="1800" dirty="0"/>
          </a:p>
        </p:txBody>
      </p:sp>
      <p:sp>
        <p:nvSpPr>
          <p:cNvPr id="8" name="Text 4"/>
          <p:cNvSpPr txBox="1"/>
          <p:nvPr/>
        </p:nvSpPr>
        <p:spPr>
          <a:xfrm>
            <a:off x="1645920" y="2286000"/>
            <a:ext cx="4480560" cy="365760"/>
          </a:xfrm>
          <a:prstGeom prst="rect">
            <a:avLst/>
          </a:prstGeom>
          <a:noFill/>
          <a:ln/>
        </p:spPr>
        <p:txBody>
          <a:bodyPr wrap="square" lIns="0" tIns="0" rIns="0" bIns="0" rtlCol="0" anchor="t"/>
          <a:lstStyle/>
          <a:p>
            <a:pPr indent="0" marL="0">
              <a:buNone/>
            </a:pPr>
            <a:r>
              <a:rPr lang="en-US" sz="1400" dirty="0">
                <a:solidFill>
                  <a:schemeClr val="tx2"/>
                </a:solidFill>
              </a:rPr>
              <a:t>prediction, recommender, RAG and fallbacks</a:t>
            </a:r>
            <a:endParaRPr lang="en-US" sz="1400" dirty="0"/>
          </a:p>
        </p:txBody>
      </p:sp>
      <p:sp>
        <p:nvSpPr>
          <p:cNvPr id="9" name="eng card 1"/>
          <p:cNvSpPr/>
          <p:nvPr/>
        </p:nvSpPr>
        <p:spPr>
          <a:xfrm>
            <a:off x="548640" y="3017520"/>
            <a:ext cx="5760720" cy="1188720"/>
          </a:xfrm>
          <a:prstGeom prst="roundRect">
            <a:avLst>
              <a:gd name="adj" fmla="val 9231"/>
            </a:avLst>
          </a:prstGeom>
          <a:solidFill>
            <a:schemeClr val="bg2"/>
          </a:solidFill>
          <a:ln w="9525">
            <a:solidFill>
              <a:srgbClr val="3A3426"/>
            </a:solidFill>
            <a:prstDash val="solid"/>
          </a:ln>
        </p:spPr>
      </p:sp>
      <p:sp>
        <p:nvSpPr>
          <p:cNvPr id="10" name="iconbg FaBug"/>
          <p:cNvSpPr/>
          <p:nvPr/>
        </p:nvSpPr>
        <p:spPr>
          <a:xfrm>
            <a:off x="777240" y="3291840"/>
            <a:ext cx="640080" cy="640080"/>
          </a:xfrm>
          <a:prstGeom prst="ellipse">
            <a:avLst/>
          </a:prstGeom>
          <a:solidFill>
            <a:schemeClr val="accent1"/>
          </a:solidFill>
          <a:ln w="12700">
            <a:solidFill>
              <a:schemeClr val="accent1"/>
            </a:solidFill>
            <a:prstDash val="solid"/>
          </a:ln>
        </p:spPr>
      </p:sp>
      <p:pic>
        <p:nvPicPr>
          <p:cNvPr id="11" name="Image 1" descr="Bug icon">    </p:cNvPr>
          <p:cNvPicPr>
            <a:picLocks noChangeAspect="1"/>
          </p:cNvPicPr>
          <p:nvPr/>
        </p:nvPicPr>
        <p:blipFill>
          <a:blip r:embed="rId2"/>
          <a:stretch>
            <a:fillRect/>
          </a:stretch>
        </p:blipFill>
        <p:spPr>
          <a:xfrm>
            <a:off x="918058" y="3432658"/>
            <a:ext cx="358445" cy="358445"/>
          </a:xfrm>
          <a:prstGeom prst="rect">
            <a:avLst/>
          </a:prstGeom>
        </p:spPr>
      </p:pic>
      <p:sp>
        <p:nvSpPr>
          <p:cNvPr id="12" name="Text 7"/>
          <p:cNvSpPr txBox="1"/>
          <p:nvPr/>
        </p:nvSpPr>
        <p:spPr>
          <a:xfrm>
            <a:off x="1645920" y="3200400"/>
            <a:ext cx="4480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Browser-tested pages</a:t>
            </a:r>
            <a:endParaRPr lang="en-US" sz="1800" dirty="0"/>
          </a:p>
        </p:txBody>
      </p:sp>
      <p:sp>
        <p:nvSpPr>
          <p:cNvPr id="13" name="Text 8"/>
          <p:cNvSpPr txBox="1"/>
          <p:nvPr/>
        </p:nvSpPr>
        <p:spPr>
          <a:xfrm>
            <a:off x="1645920" y="3657600"/>
            <a:ext cx="4480560" cy="365760"/>
          </a:xfrm>
          <a:prstGeom prst="rect">
            <a:avLst/>
          </a:prstGeom>
          <a:noFill/>
          <a:ln/>
        </p:spPr>
        <p:txBody>
          <a:bodyPr wrap="square" lIns="0" tIns="0" rIns="0" bIns="0" rtlCol="0" anchor="t"/>
          <a:lstStyle/>
          <a:p>
            <a:pPr indent="0" marL="0">
              <a:buNone/>
            </a:pPr>
            <a:r>
              <a:rPr lang="en-US" sz="1400" dirty="0">
                <a:solidFill>
                  <a:schemeClr val="tx2"/>
                </a:solidFill>
              </a:rPr>
              <a:t>filters, compare, PDF, chat and sign-in</a:t>
            </a:r>
            <a:endParaRPr lang="en-US" sz="1400" dirty="0"/>
          </a:p>
        </p:txBody>
      </p:sp>
      <p:sp>
        <p:nvSpPr>
          <p:cNvPr id="14" name="eng card 2"/>
          <p:cNvSpPr/>
          <p:nvPr/>
        </p:nvSpPr>
        <p:spPr>
          <a:xfrm>
            <a:off x="548640" y="4389120"/>
            <a:ext cx="5760720" cy="1188720"/>
          </a:xfrm>
          <a:prstGeom prst="roundRect">
            <a:avLst>
              <a:gd name="adj" fmla="val 9231"/>
            </a:avLst>
          </a:prstGeom>
          <a:solidFill>
            <a:schemeClr val="bg2"/>
          </a:solidFill>
          <a:ln w="9525">
            <a:solidFill>
              <a:srgbClr val="3A3426"/>
            </a:solidFill>
            <a:prstDash val="solid"/>
          </a:ln>
        </p:spPr>
      </p:sp>
      <p:sp>
        <p:nvSpPr>
          <p:cNvPr id="15" name="iconbg FaWifi"/>
          <p:cNvSpPr/>
          <p:nvPr/>
        </p:nvSpPr>
        <p:spPr>
          <a:xfrm>
            <a:off x="777240" y="4663440"/>
            <a:ext cx="640080" cy="640080"/>
          </a:xfrm>
          <a:prstGeom prst="ellipse">
            <a:avLst/>
          </a:prstGeom>
          <a:solidFill>
            <a:schemeClr val="accent1"/>
          </a:solidFill>
          <a:ln w="12700">
            <a:solidFill>
              <a:schemeClr val="accent1"/>
            </a:solidFill>
            <a:prstDash val="solid"/>
          </a:ln>
        </p:spPr>
      </p:sp>
      <p:pic>
        <p:nvPicPr>
          <p:cNvPr id="16" name="Image 2" descr="Wifi icon">    </p:cNvPr>
          <p:cNvPicPr>
            <a:picLocks noChangeAspect="1"/>
          </p:cNvPicPr>
          <p:nvPr/>
        </p:nvPicPr>
        <p:blipFill>
          <a:blip r:embed="rId3"/>
          <a:stretch>
            <a:fillRect/>
          </a:stretch>
        </p:blipFill>
        <p:spPr>
          <a:xfrm>
            <a:off x="918058" y="4804258"/>
            <a:ext cx="358445" cy="358445"/>
          </a:xfrm>
          <a:prstGeom prst="rect">
            <a:avLst/>
          </a:prstGeom>
        </p:spPr>
      </p:pic>
      <p:sp>
        <p:nvSpPr>
          <p:cNvPr id="17" name="Text 11"/>
          <p:cNvSpPr txBox="1"/>
          <p:nvPr/>
        </p:nvSpPr>
        <p:spPr>
          <a:xfrm>
            <a:off x="1645920" y="4572000"/>
            <a:ext cx="4480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Offline-safe</a:t>
            </a:r>
            <a:endParaRPr lang="en-US" sz="1800" dirty="0"/>
          </a:p>
        </p:txBody>
      </p:sp>
      <p:sp>
        <p:nvSpPr>
          <p:cNvPr id="18" name="Text 12"/>
          <p:cNvSpPr txBox="1"/>
          <p:nvPr/>
        </p:nvSpPr>
        <p:spPr>
          <a:xfrm>
            <a:off x="1645920" y="5029200"/>
            <a:ext cx="4480560" cy="365760"/>
          </a:xfrm>
          <a:prstGeom prst="rect">
            <a:avLst/>
          </a:prstGeom>
          <a:noFill/>
          <a:ln/>
        </p:spPr>
        <p:txBody>
          <a:bodyPr wrap="square" lIns="0" tIns="0" rIns="0" bIns="0" rtlCol="0" anchor="t"/>
          <a:lstStyle/>
          <a:p>
            <a:pPr indent="0" marL="0">
              <a:buNone/>
            </a:pPr>
            <a:r>
              <a:rPr lang="en-US" sz="1400" dirty="0">
                <a:solidFill>
                  <a:schemeClr val="tx2"/>
                </a:solidFill>
              </a:rPr>
              <a:t>works without an API key</a:t>
            </a:r>
            <a:endParaRPr lang="en-US" sz="1400" dirty="0"/>
          </a:p>
        </p:txBody>
      </p:sp>
      <p:sp>
        <p:nvSpPr>
          <p:cNvPr id="19" name="deploy card 0"/>
          <p:cNvSpPr/>
          <p:nvPr/>
        </p:nvSpPr>
        <p:spPr>
          <a:xfrm>
            <a:off x="6766560" y="1645920"/>
            <a:ext cx="4846320" cy="1188720"/>
          </a:xfrm>
          <a:prstGeom prst="roundRect">
            <a:avLst>
              <a:gd name="adj" fmla="val 9231"/>
            </a:avLst>
          </a:prstGeom>
          <a:solidFill>
            <a:schemeClr val="bg2"/>
          </a:solidFill>
          <a:ln w="9525">
            <a:solidFill>
              <a:srgbClr val="3A3426"/>
            </a:solidFill>
            <a:prstDash val="solid"/>
          </a:ln>
        </p:spPr>
      </p:sp>
      <p:sp>
        <p:nvSpPr>
          <p:cNvPr id="20" name="iconbg FaGithub"/>
          <p:cNvSpPr/>
          <p:nvPr/>
        </p:nvSpPr>
        <p:spPr>
          <a:xfrm>
            <a:off x="6995160" y="1920240"/>
            <a:ext cx="640080" cy="640080"/>
          </a:xfrm>
          <a:prstGeom prst="ellipse">
            <a:avLst/>
          </a:prstGeom>
          <a:solidFill>
            <a:schemeClr val="accent1"/>
          </a:solidFill>
          <a:ln w="12700">
            <a:solidFill>
              <a:schemeClr val="accent1"/>
            </a:solidFill>
            <a:prstDash val="solid"/>
          </a:ln>
        </p:spPr>
      </p:sp>
      <p:pic>
        <p:nvPicPr>
          <p:cNvPr id="21" name="Image 3" descr="Github icon">    </p:cNvPr>
          <p:cNvPicPr>
            <a:picLocks noChangeAspect="1"/>
          </p:cNvPicPr>
          <p:nvPr/>
        </p:nvPicPr>
        <p:blipFill>
          <a:blip r:embed="rId4"/>
          <a:stretch>
            <a:fillRect/>
          </a:stretch>
        </p:blipFill>
        <p:spPr>
          <a:xfrm>
            <a:off x="7135978" y="2061058"/>
            <a:ext cx="358445" cy="358445"/>
          </a:xfrm>
          <a:prstGeom prst="rect">
            <a:avLst/>
          </a:prstGeom>
        </p:spPr>
      </p:pic>
      <p:sp>
        <p:nvSpPr>
          <p:cNvPr id="22" name="Text 15"/>
          <p:cNvSpPr txBox="1"/>
          <p:nvPr/>
        </p:nvSpPr>
        <p:spPr>
          <a:xfrm>
            <a:off x="7818120" y="1828800"/>
            <a:ext cx="35661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GitHub</a:t>
            </a:r>
            <a:endParaRPr lang="en-US" sz="1800" dirty="0"/>
          </a:p>
        </p:txBody>
      </p:sp>
      <p:sp>
        <p:nvSpPr>
          <p:cNvPr id="23" name="Text 16"/>
          <p:cNvSpPr txBox="1"/>
          <p:nvPr/>
        </p:nvSpPr>
        <p:spPr>
          <a:xfrm>
            <a:off x="7818120" y="2286000"/>
            <a:ext cx="3566160" cy="365760"/>
          </a:xfrm>
          <a:prstGeom prst="rect">
            <a:avLst/>
          </a:prstGeom>
          <a:noFill/>
          <a:ln/>
        </p:spPr>
        <p:txBody>
          <a:bodyPr wrap="square" lIns="0" tIns="0" rIns="0" bIns="0" rtlCol="0" anchor="t"/>
          <a:lstStyle/>
          <a:p>
            <a:pPr indent="0" marL="0">
              <a:buNone/>
            </a:pPr>
            <a:r>
              <a:rPr lang="en-US" sz="1400" dirty="0">
                <a:solidFill>
                  <a:schemeClr val="tx2"/>
                </a:solidFill>
              </a:rPr>
              <a:t>source, data, tests</a:t>
            </a:r>
            <a:endParaRPr lang="en-US" sz="1400" dirty="0"/>
          </a:p>
        </p:txBody>
      </p:sp>
      <p:sp>
        <p:nvSpPr>
          <p:cNvPr id="24" name="deploy card 1"/>
          <p:cNvSpPr/>
          <p:nvPr/>
        </p:nvSpPr>
        <p:spPr>
          <a:xfrm>
            <a:off x="6766560" y="3017520"/>
            <a:ext cx="4846320" cy="1188720"/>
          </a:xfrm>
          <a:prstGeom prst="roundRect">
            <a:avLst>
              <a:gd name="adj" fmla="val 9231"/>
            </a:avLst>
          </a:prstGeom>
          <a:solidFill>
            <a:schemeClr val="bg2"/>
          </a:solidFill>
          <a:ln w="9525">
            <a:solidFill>
              <a:srgbClr val="3A3426"/>
            </a:solidFill>
            <a:prstDash val="solid"/>
          </a:ln>
        </p:spPr>
      </p:sp>
      <p:sp>
        <p:nvSpPr>
          <p:cNvPr id="25" name="iconbg FaServer"/>
          <p:cNvSpPr/>
          <p:nvPr/>
        </p:nvSpPr>
        <p:spPr>
          <a:xfrm>
            <a:off x="6995160" y="3291840"/>
            <a:ext cx="640080" cy="640080"/>
          </a:xfrm>
          <a:prstGeom prst="ellipse">
            <a:avLst/>
          </a:prstGeom>
          <a:solidFill>
            <a:schemeClr val="accent1"/>
          </a:solidFill>
          <a:ln w="12700">
            <a:solidFill>
              <a:schemeClr val="accent1"/>
            </a:solidFill>
            <a:prstDash val="solid"/>
          </a:ln>
        </p:spPr>
      </p:sp>
      <p:pic>
        <p:nvPicPr>
          <p:cNvPr id="26" name="Image 4" descr="Server icon">    </p:cNvPr>
          <p:cNvPicPr>
            <a:picLocks noChangeAspect="1"/>
          </p:cNvPicPr>
          <p:nvPr/>
        </p:nvPicPr>
        <p:blipFill>
          <a:blip r:embed="rId5"/>
          <a:stretch>
            <a:fillRect/>
          </a:stretch>
        </p:blipFill>
        <p:spPr>
          <a:xfrm>
            <a:off x="7135978" y="3432658"/>
            <a:ext cx="358445" cy="358445"/>
          </a:xfrm>
          <a:prstGeom prst="rect">
            <a:avLst/>
          </a:prstGeom>
        </p:spPr>
      </p:pic>
      <p:sp>
        <p:nvSpPr>
          <p:cNvPr id="27" name="Text 19"/>
          <p:cNvSpPr txBox="1"/>
          <p:nvPr/>
        </p:nvSpPr>
        <p:spPr>
          <a:xfrm>
            <a:off x="7818120" y="3200400"/>
            <a:ext cx="35661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Vercel</a:t>
            </a:r>
            <a:endParaRPr lang="en-US" sz="1800" dirty="0"/>
          </a:p>
        </p:txBody>
      </p:sp>
      <p:sp>
        <p:nvSpPr>
          <p:cNvPr id="28" name="Text 20"/>
          <p:cNvSpPr txBox="1"/>
          <p:nvPr/>
        </p:nvSpPr>
        <p:spPr>
          <a:xfrm>
            <a:off x="7818120" y="3657600"/>
            <a:ext cx="3566160" cy="365760"/>
          </a:xfrm>
          <a:prstGeom prst="rect">
            <a:avLst/>
          </a:prstGeom>
          <a:noFill/>
          <a:ln/>
        </p:spPr>
        <p:txBody>
          <a:bodyPr wrap="square" lIns="0" tIns="0" rIns="0" bIns="0" rtlCol="0" anchor="t"/>
          <a:lstStyle/>
          <a:p>
            <a:pPr indent="0" marL="0">
              <a:buNone/>
            </a:pPr>
            <a:r>
              <a:rPr lang="en-US" sz="1400" dirty="0">
                <a:solidFill>
                  <a:schemeClr val="tx2"/>
                </a:solidFill>
              </a:rPr>
              <a:t>backend + website</a:t>
            </a:r>
            <a:endParaRPr lang="en-US" sz="1400" dirty="0"/>
          </a:p>
        </p:txBody>
      </p:sp>
      <p:sp>
        <p:nvSpPr>
          <p:cNvPr id="29" name="deploy card 2"/>
          <p:cNvSpPr/>
          <p:nvPr/>
        </p:nvSpPr>
        <p:spPr>
          <a:xfrm>
            <a:off x="6766560" y="4389120"/>
            <a:ext cx="4846320" cy="1188720"/>
          </a:xfrm>
          <a:prstGeom prst="roundRect">
            <a:avLst>
              <a:gd name="adj" fmla="val 9231"/>
            </a:avLst>
          </a:prstGeom>
          <a:solidFill>
            <a:schemeClr val="bg2"/>
          </a:solidFill>
          <a:ln w="9525">
            <a:solidFill>
              <a:srgbClr val="3A3426"/>
            </a:solidFill>
            <a:prstDash val="solid"/>
          </a:ln>
        </p:spPr>
      </p:sp>
      <p:sp>
        <p:nvSpPr>
          <p:cNvPr id="30" name="iconbg FaRocket"/>
          <p:cNvSpPr/>
          <p:nvPr/>
        </p:nvSpPr>
        <p:spPr>
          <a:xfrm>
            <a:off x="6995160" y="4663440"/>
            <a:ext cx="640080" cy="640080"/>
          </a:xfrm>
          <a:prstGeom prst="ellipse">
            <a:avLst/>
          </a:prstGeom>
          <a:solidFill>
            <a:schemeClr val="accent1"/>
          </a:solidFill>
          <a:ln w="12700">
            <a:solidFill>
              <a:schemeClr val="accent1"/>
            </a:solidFill>
            <a:prstDash val="solid"/>
          </a:ln>
        </p:spPr>
      </p:sp>
      <p:pic>
        <p:nvPicPr>
          <p:cNvPr id="31" name="Image 5" descr="Rocket icon">    </p:cNvPr>
          <p:cNvPicPr>
            <a:picLocks noChangeAspect="1"/>
          </p:cNvPicPr>
          <p:nvPr/>
        </p:nvPicPr>
        <p:blipFill>
          <a:blip r:embed="rId6"/>
          <a:stretch>
            <a:fillRect/>
          </a:stretch>
        </p:blipFill>
        <p:spPr>
          <a:xfrm>
            <a:off x="7135978" y="4804258"/>
            <a:ext cx="358445" cy="358445"/>
          </a:xfrm>
          <a:prstGeom prst="rect">
            <a:avLst/>
          </a:prstGeom>
        </p:spPr>
      </p:pic>
      <p:sp>
        <p:nvSpPr>
          <p:cNvPr id="32" name="Text 23"/>
          <p:cNvSpPr txBox="1"/>
          <p:nvPr/>
        </p:nvSpPr>
        <p:spPr>
          <a:xfrm>
            <a:off x="7818120" y="4572000"/>
            <a:ext cx="35661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Firebase</a:t>
            </a:r>
            <a:endParaRPr lang="en-US" sz="1800" dirty="0"/>
          </a:p>
        </p:txBody>
      </p:sp>
      <p:sp>
        <p:nvSpPr>
          <p:cNvPr id="33" name="Text 24"/>
          <p:cNvSpPr txBox="1"/>
          <p:nvPr/>
        </p:nvSpPr>
        <p:spPr>
          <a:xfrm>
            <a:off x="7818120" y="5029200"/>
            <a:ext cx="3566160" cy="365760"/>
          </a:xfrm>
          <a:prstGeom prst="rect">
            <a:avLst/>
          </a:prstGeom>
          <a:noFill/>
          <a:ln/>
        </p:spPr>
        <p:txBody>
          <a:bodyPr wrap="square" lIns="0" tIns="0" rIns="0" bIns="0" rtlCol="0" anchor="t"/>
          <a:lstStyle/>
          <a:p>
            <a:pPr indent="0" marL="0">
              <a:buNone/>
            </a:pPr>
            <a:r>
              <a:rPr lang="en-US" sz="1400" dirty="0">
                <a:solidFill>
                  <a:schemeClr val="tx2"/>
                </a:solidFill>
              </a:rPr>
              <a:t>static frontend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914400"/>
          </a:xfrm>
          <a:prstGeom prst="rect">
            <a:avLst/>
          </a:prstGeom>
          <a:noFill/>
          <a:ln/>
        </p:spPr>
        <p:txBody>
          <a:bodyPr wrap="square" lIns="0" tIns="0" rIns="0" bIns="0" rtlCol="0" anchor="ctr"/>
          <a:lstStyle/>
          <a:p>
            <a:pPr indent="0" marL="0">
              <a:buNone/>
            </a:pPr>
            <a:r>
              <a:rPr lang="en-US" sz="3400" b="1" dirty="0">
                <a:solidFill>
                  <a:schemeClr val="tx1"/>
                </a:solidFill>
              </a:rPr>
              <a:t>Limitations and what comes next</a:t>
            </a:r>
            <a:endParaRPr lang="en-US" sz="3400" dirty="0"/>
          </a:p>
        </p:txBody>
      </p:sp>
      <p:sp>
        <p:nvSpPr>
          <p:cNvPr id="4" name="limits card"/>
          <p:cNvSpPr/>
          <p:nvPr/>
        </p:nvSpPr>
        <p:spPr>
          <a:xfrm>
            <a:off x="548640" y="1645920"/>
            <a:ext cx="5394960" cy="3383280"/>
          </a:xfrm>
          <a:prstGeom prst="roundRect">
            <a:avLst>
              <a:gd name="adj" fmla="val 3243"/>
            </a:avLst>
          </a:prstGeom>
          <a:solidFill>
            <a:schemeClr val="bg2"/>
          </a:solidFill>
          <a:ln w="9525">
            <a:solidFill>
              <a:srgbClr val="3A3426"/>
            </a:solidFill>
            <a:prstDash val="solid"/>
          </a:ln>
        </p:spPr>
      </p:sp>
      <p:sp>
        <p:nvSpPr>
          <p:cNvPr id="5" name="Text 2"/>
          <p:cNvSpPr txBox="1"/>
          <p:nvPr/>
        </p:nvSpPr>
        <p:spPr>
          <a:xfrm>
            <a:off x="822960" y="1828800"/>
            <a:ext cx="484632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Limitations</a:t>
            </a:r>
            <a:endParaRPr lang="en-US" sz="2200" dirty="0"/>
          </a:p>
        </p:txBody>
      </p:sp>
      <p:sp>
        <p:nvSpPr>
          <p:cNvPr id="6" name="Text 3"/>
          <p:cNvSpPr txBox="1"/>
          <p:nvPr/>
        </p:nvSpPr>
        <p:spPr>
          <a:xfrm>
            <a:off x="822960" y="246888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One city, 2006-2010: educational, not an appraisal</a:t>
            </a:r>
            <a:endParaRPr lang="en-US" sz="1600" dirty="0"/>
          </a:p>
          <a:p>
            <a:pPr marL="342900" indent="-342900">
              <a:spcAft>
                <a:spcPts val="1000"/>
              </a:spcAft>
              <a:buSzPct val="100000"/>
              <a:buChar char="•"/>
            </a:pPr>
            <a:r>
              <a:rPr lang="en-US" sz="1600" dirty="0">
                <a:solidFill>
                  <a:schemeClr val="tx1"/>
                </a:solidFill>
              </a:rPr>
              <a:t>Nine inputs ignore renovations and exact location</a:t>
            </a:r>
            <a:endParaRPr lang="en-US" sz="1600" dirty="0"/>
          </a:p>
          <a:p>
            <a:pPr marL="342900" indent="-342900">
              <a:spcAft>
                <a:spcPts val="1000"/>
              </a:spcAft>
              <a:buSzPct val="100000"/>
              <a:buChar char="•"/>
            </a:pPr>
            <a:r>
              <a:rPr lang="en-US" sz="1600" dirty="0">
                <a:solidFill>
                  <a:schemeClr val="tx1"/>
                </a:solidFill>
              </a:rPr>
              <a:t>TF-IDF matches words, not meaning</a:t>
            </a:r>
            <a:endParaRPr lang="en-US" sz="1600" dirty="0"/>
          </a:p>
          <a:p>
            <a:pPr marL="342900" indent="-342900">
              <a:spcAft>
                <a:spcPts val="1000"/>
              </a:spcAft>
              <a:buSzPct val="100000"/>
              <a:buChar char="•"/>
            </a:pPr>
            <a:r>
              <a:rPr lang="en-US" sz="1600" dirty="0">
                <a:solidFill>
                  <a:schemeClr val="tx1"/>
                </a:solidFill>
              </a:rPr>
              <a:t>Demo login lives only in the browser</a:t>
            </a:r>
            <a:endParaRPr lang="en-US" sz="1600" dirty="0"/>
          </a:p>
        </p:txBody>
      </p:sp>
      <p:sp>
        <p:nvSpPr>
          <p:cNvPr id="7" name="future card"/>
          <p:cNvSpPr/>
          <p:nvPr/>
        </p:nvSpPr>
        <p:spPr>
          <a:xfrm>
            <a:off x="6217920" y="1645920"/>
            <a:ext cx="5394960" cy="3383280"/>
          </a:xfrm>
          <a:prstGeom prst="roundRect">
            <a:avLst>
              <a:gd name="adj" fmla="val 3243"/>
            </a:avLst>
          </a:prstGeom>
          <a:solidFill>
            <a:schemeClr val="bg2"/>
          </a:solidFill>
          <a:ln w="9525">
            <a:solidFill>
              <a:srgbClr val="3A3426"/>
            </a:solidFill>
            <a:prstDash val="solid"/>
          </a:ln>
        </p:spPr>
      </p:sp>
      <p:sp>
        <p:nvSpPr>
          <p:cNvPr id="8" name="Text 5"/>
          <p:cNvSpPr txBox="1"/>
          <p:nvPr/>
        </p:nvSpPr>
        <p:spPr>
          <a:xfrm>
            <a:off x="6492240" y="1828800"/>
            <a:ext cx="484632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Next steps</a:t>
            </a:r>
            <a:endParaRPr lang="en-US" sz="2200" dirty="0"/>
          </a:p>
        </p:txBody>
      </p:sp>
      <p:sp>
        <p:nvSpPr>
          <p:cNvPr id="9" name="Text 6"/>
          <p:cNvSpPr txBox="1"/>
          <p:nvPr/>
        </p:nvSpPr>
        <p:spPr>
          <a:xfrm>
            <a:off x="6492240" y="246888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Embedding-based semantic retrieval</a:t>
            </a:r>
            <a:endParaRPr lang="en-US" sz="1600" dirty="0"/>
          </a:p>
          <a:p>
            <a:pPr marL="342900" indent="-342900">
              <a:spcAft>
                <a:spcPts val="1000"/>
              </a:spcAft>
              <a:buSzPct val="100000"/>
              <a:buChar char="•"/>
            </a:pPr>
            <a:r>
              <a:rPr lang="en-US" sz="1600" dirty="0">
                <a:solidFill>
                  <a:schemeClr val="tx1"/>
                </a:solidFill>
              </a:rPr>
              <a:t>Real accounts with Firebase Authentication</a:t>
            </a:r>
            <a:endParaRPr lang="en-US" sz="1600" dirty="0"/>
          </a:p>
          <a:p>
            <a:pPr marL="342900" indent="-342900">
              <a:spcAft>
                <a:spcPts val="1000"/>
              </a:spcAft>
              <a:buSzPct val="100000"/>
              <a:buChar char="•"/>
            </a:pPr>
            <a:r>
              <a:rPr lang="en-US" sz="1600" dirty="0">
                <a:solidFill>
                  <a:schemeClr val="tx1"/>
                </a:solidFill>
              </a:rPr>
              <a:t>Gradient boosting and a larger, newer dataset</a:t>
            </a:r>
            <a:endParaRPr lang="en-US" sz="1600" dirty="0"/>
          </a:p>
          <a:p>
            <a:pPr marL="342900" indent="-342900">
              <a:spcAft>
                <a:spcPts val="1000"/>
              </a:spcAft>
              <a:buSzPct val="100000"/>
              <a:buChar char="•"/>
            </a:pPr>
            <a:r>
              <a:rPr lang="en-US" sz="1600" dirty="0">
                <a:solidFill>
                  <a:schemeClr val="tx1"/>
                </a:solidFill>
              </a:rPr>
              <a:t>Map view and listing photos</a:t>
            </a:r>
            <a:endParaRPr lang="en-US" sz="1600" dirty="0"/>
          </a:p>
          <a:p>
            <a:pPr marL="342900" indent="-342900">
              <a:spcAft>
                <a:spcPts val="1000"/>
              </a:spcAft>
              <a:buSzPct val="100000"/>
              <a:buChar char="•"/>
            </a:pPr>
            <a:r>
              <a:rPr lang="en-US" sz="1600" dirty="0">
                <a:solidFill>
                  <a:schemeClr val="tx1"/>
                </a:solidFill>
              </a:rPr>
              <a:t>Urdu and English interface</a:t>
            </a:r>
            <a:endParaRPr lang="en-US" sz="1600" dirty="0"/>
          </a:p>
        </p:txBody>
      </p:sp>
      <p:sp>
        <p:nvSpPr>
          <p:cNvPr id="10" name="Text 7"/>
          <p:cNvSpPr txBox="1"/>
          <p:nvPr/>
        </p:nvSpPr>
        <p:spPr>
          <a:xfrm>
            <a:off x="548640" y="5440680"/>
            <a:ext cx="11064240" cy="457200"/>
          </a:xfrm>
          <a:prstGeom prst="rect">
            <a:avLst/>
          </a:prstGeom>
          <a:noFill/>
          <a:ln/>
        </p:spPr>
        <p:txBody>
          <a:bodyPr wrap="square" lIns="0" tIns="0" rIns="0" bIns="0" rtlCol="0" anchor="t"/>
          <a:lstStyle/>
          <a:p>
            <a:pPr indent="0" marL="0">
              <a:buNone/>
            </a:pPr>
            <a:r>
              <a:rPr lang="en-US" sz="2000" i="1" dirty="0">
                <a:solidFill>
                  <a:schemeClr val="accent1"/>
                </a:solidFill>
                <a:latin typeface="Cambria" pitchFamily="34" charset="0"/>
                <a:ea typeface="Cambria" pitchFamily="34" charset="-122"/>
                <a:cs typeface="Cambria" pitchFamily="34" charset="-120"/>
              </a:rPr>
              <a:t>Estimates are educational, not appraisals: the honest limits are part of the design.</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A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1828800"/>
            <a:ext cx="10972800" cy="1371600"/>
          </a:xfrm>
          <a:prstGeom prst="rect">
            <a:avLst/>
          </a:prstGeom>
          <a:noFill/>
          <a:ln/>
        </p:spPr>
        <p:txBody>
          <a:bodyPr wrap="square" lIns="0" tIns="0" rIns="0" bIns="0" rtlCol="0" anchor="ctr"/>
          <a:lstStyle/>
          <a:p>
            <a:pPr indent="0" marL="0">
              <a:buNone/>
            </a:pPr>
            <a:r>
              <a:rPr lang="en-US" sz="7000" b="1" dirty="0">
                <a:solidFill>
                  <a:schemeClr val="accent1"/>
                </a:solidFill>
                <a:latin typeface="Cambria" pitchFamily="34" charset="0"/>
                <a:ea typeface="Cambria" pitchFamily="34" charset="-122"/>
                <a:cs typeface="Cambria" pitchFamily="34" charset="-120"/>
              </a:rPr>
              <a:t>Thank you</a:t>
            </a:r>
            <a:endParaRPr lang="en-US" sz="7000" dirty="0"/>
          </a:p>
        </p:txBody>
      </p:sp>
      <p:sp>
        <p:nvSpPr>
          <p:cNvPr id="3" name="Text 1"/>
          <p:cNvSpPr txBox="1"/>
          <p:nvPr/>
        </p:nvSpPr>
        <p:spPr>
          <a:xfrm>
            <a:off x="640080" y="3291840"/>
            <a:ext cx="10972800" cy="731520"/>
          </a:xfrm>
          <a:prstGeom prst="rect">
            <a:avLst/>
          </a:prstGeom>
          <a:noFill/>
          <a:ln/>
        </p:spPr>
        <p:txBody>
          <a:bodyPr wrap="square" lIns="0" tIns="0" rIns="0" bIns="0" rtlCol="0" anchor="t"/>
          <a:lstStyle/>
          <a:p>
            <a:pPr indent="0" marL="0">
              <a:buNone/>
            </a:pPr>
            <a:r>
              <a:rPr lang="en-US" sz="3200" dirty="0">
                <a:solidFill>
                  <a:schemeClr val="tx1"/>
                </a:solidFill>
                <a:latin typeface="Cambria" pitchFamily="34" charset="0"/>
                <a:ea typeface="Cambria" pitchFamily="34" charset="-122"/>
                <a:cs typeface="Cambria" pitchFamily="34" charset="-120"/>
              </a:rPr>
              <a:t>Questions?</a:t>
            </a:r>
            <a:endParaRPr lang="en-US" sz="3200" dirty="0"/>
          </a:p>
        </p:txBody>
      </p:sp>
      <p:sp>
        <p:nvSpPr>
          <p:cNvPr id="4" name="Text 2"/>
          <p:cNvSpPr txBox="1"/>
          <p:nvPr/>
        </p:nvSpPr>
        <p:spPr>
          <a:xfrm>
            <a:off x="640080" y="4572000"/>
            <a:ext cx="10972800" cy="457200"/>
          </a:xfrm>
          <a:prstGeom prst="rect">
            <a:avLst/>
          </a:prstGeom>
          <a:noFill/>
          <a:ln/>
        </p:spPr>
        <p:txBody>
          <a:bodyPr wrap="square" lIns="0" tIns="0" rIns="0" bIns="0" rtlCol="0" anchor="t"/>
          <a:lstStyle/>
          <a:p>
            <a:pPr indent="0" marL="0">
              <a:buNone/>
            </a:pPr>
            <a:r>
              <a:rPr lang="en-US" sz="1800" dirty="0">
                <a:solidFill>
                  <a:schemeClr val="tx2"/>
                </a:solidFill>
              </a:rPr>
              <a:t>◆ PropMind · AI Real Estate Intelligence Platform</a:t>
            </a:r>
            <a:endParaRPr lang="en-US" sz="1800" dirty="0"/>
          </a:p>
        </p:txBody>
      </p:sp>
      <p:sp>
        <p:nvSpPr>
          <p:cNvPr id="5" name="Text 3"/>
          <p:cNvSpPr txBox="1"/>
          <p:nvPr/>
        </p:nvSpPr>
        <p:spPr>
          <a:xfrm>
            <a:off x="640080" y="5029200"/>
            <a:ext cx="10972800" cy="457200"/>
          </a:xfrm>
          <a:prstGeom prst="rect">
            <a:avLst/>
          </a:prstGeom>
          <a:noFill/>
          <a:ln/>
        </p:spPr>
        <p:txBody>
          <a:bodyPr wrap="square" lIns="0" tIns="0" rIns="0" bIns="0" rtlCol="0" anchor="t"/>
          <a:lstStyle/>
          <a:p>
            <a:pPr indent="0" marL="0">
              <a:buNone/>
            </a:pPr>
            <a:r>
              <a:rPr lang="en-US" sz="1600" dirty="0">
                <a:solidFill>
                  <a:schemeClr val="tx2"/>
                </a:solidFill>
              </a:rPr>
              <a:t>Anushay Ayat · AI &amp; Data Science · SMIT</a:t>
            </a:r>
            <a:endParaRPr lang="en-US" sz="1600" dirty="0"/>
          </a:p>
        </p:txBody>
      </p:sp>
    </p:spTree>
  </p:cSld>
  <p:clrMapOvr>
    <a:masterClrMapping/>
  </p:clrMapOvr>
</p:sld>
</file>

<file path=ppt/theme/theme1.xml><?xml version="1.0" encoding="utf-8"?>
<a:theme xmlns:a="http://schemas.openxmlformats.org/drawingml/2006/main" name="PropMind Dark Luxury">
  <a:themeElements>
    <a:clrScheme name="PropMind Dark Luxury">
      <a:dk1>
        <a:srgbClr val="F3EAD7"/>
      </a:dk1>
      <a:lt1>
        <a:srgbClr val="0B0B10"/>
      </a:lt1>
      <a:dk2>
        <a:srgbClr val="A39A85"/>
      </a:dk2>
      <a:lt2>
        <a:srgbClr val="17150F"/>
      </a:lt2>
      <a:accent1>
        <a:srgbClr val="D4AF6A"/>
      </a:accent1>
      <a:accent2>
        <a:srgbClr val="B8883A"/>
      </a:accent2>
      <a:accent3>
        <a:srgbClr val="FF5A3C"/>
      </a:accent3>
      <a:accent4>
        <a:srgbClr val="3CCF91"/>
      </a:accent4>
      <a:accent5>
        <a:srgbClr val="F0D28A"/>
      </a:accent5>
      <a:accent6>
        <a:srgbClr val="6EA8FF"/>
      </a:accent6>
      <a:hlink>
        <a:srgbClr val="D4AF6A"/>
      </a:hlink>
      <a:folHlink>
        <a:srgbClr val="B8883A"/>
      </a:folHlink>
    </a:clrScheme>
    <a:fontScheme name="PropMind Dark Luxu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SMIT (Saylani Mass IT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PropMind: AI Real Estate Intelligence Platform</dc:title>
  <dc:subject>PptxGenJS Presentation</dc:subject>
  <dc:creator>Anushay Ayat</dc:creator>
  <cp:lastModifiedBy>Anushay Ayat</cp:lastModifiedBy>
  <cp:revision>1</cp:revision>
  <dcterms:created xsi:type="dcterms:W3CDTF">2026-10-08T05:31:54Z</dcterms:created>
  <dcterms:modified xsi:type="dcterms:W3CDTF">2026-10-08T05:31:54Z</dcterms:modified>
</cp:coreProperties>
</file>